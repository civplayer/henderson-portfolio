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gMcsDSmwlUtVguUN/uDtR3dtIY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 name="Google Shape;4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 name="Google Shape;6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0" y="0"/>
            <a:ext cx="2926080" cy="5143500"/>
          </a:xfrm>
          <a:prstGeom prst="rect">
            <a:avLst/>
          </a:prstGeom>
          <a:solidFill>
            <a:srgbClr val="1A1A2E"/>
          </a:solidFill>
          <a:ln cap="flat" cmpd="sng" w="12700">
            <a:solidFill>
              <a:srgbClr val="1A1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274320" y="731520"/>
            <a:ext cx="2468880" cy="2377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Institutional</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Transparency</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Frameworks</a:t>
            </a:r>
            <a:endParaRPr b="0" i="0" sz="2200" u="none" cap="none" strike="noStrike">
              <a:solidFill>
                <a:schemeClr val="dk1"/>
              </a:solidFill>
              <a:latin typeface="Calibri"/>
              <a:ea typeface="Calibri"/>
              <a:cs typeface="Calibri"/>
              <a:sym typeface="Calibri"/>
            </a:endParaRPr>
          </a:p>
        </p:txBody>
      </p:sp>
      <p:sp>
        <p:nvSpPr>
          <p:cNvPr id="18" name="Google Shape;18;p1"/>
          <p:cNvSpPr/>
          <p:nvPr/>
        </p:nvSpPr>
        <p:spPr>
          <a:xfrm>
            <a:off x="274320" y="2560320"/>
            <a:ext cx="24688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CC8"/>
              </a:buClr>
              <a:buSzPts val="1300"/>
              <a:buFont typeface="Calibri"/>
              <a:buNone/>
            </a:pPr>
            <a:r>
              <a:rPr b="0" i="0" lang="en-US" sz="1300" u="none" cap="none" strike="noStrike">
                <a:solidFill>
                  <a:srgbClr val="8BACC8"/>
                </a:solidFill>
                <a:latin typeface="Calibri"/>
                <a:ea typeface="Calibri"/>
                <a:cs typeface="Calibri"/>
                <a:sym typeface="Calibri"/>
              </a:rPr>
              <a:t>and AI Disclosure Quality</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BACC8"/>
              </a:buClr>
              <a:buSzPts val="1300"/>
              <a:buFont typeface="Calibri"/>
              <a:buNone/>
            </a:pPr>
            <a:r>
              <a:rPr b="0" i="0" lang="en-US" sz="1300" u="none" cap="none" strike="noStrike">
                <a:solidFill>
                  <a:srgbClr val="8BACC8"/>
                </a:solidFill>
                <a:latin typeface="Calibri"/>
                <a:ea typeface="Calibri"/>
                <a:cs typeface="Calibri"/>
                <a:sym typeface="Calibri"/>
              </a:rPr>
              <a:t>in Law Enforcement</a:t>
            </a:r>
            <a:endParaRPr b="0" i="0" sz="1300" u="none" cap="none" strike="noStrike">
              <a:solidFill>
                <a:schemeClr val="dk1"/>
              </a:solidFill>
              <a:latin typeface="Calibri"/>
              <a:ea typeface="Calibri"/>
              <a:cs typeface="Calibri"/>
              <a:sym typeface="Calibri"/>
            </a:endParaRPr>
          </a:p>
        </p:txBody>
      </p:sp>
      <p:sp>
        <p:nvSpPr>
          <p:cNvPr id="19" name="Google Shape;19;p1"/>
          <p:cNvSpPr/>
          <p:nvPr/>
        </p:nvSpPr>
        <p:spPr>
          <a:xfrm>
            <a:off x="3291840" y="1188720"/>
            <a:ext cx="54864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700"/>
              <a:buFont typeface="Trebuchet MS"/>
              <a:buNone/>
            </a:pPr>
            <a:r>
              <a:rPr b="0" i="0" lang="en-US" sz="1700" u="none" cap="none" strike="noStrike">
                <a:solidFill>
                  <a:srgbClr val="2C2C3E"/>
                </a:solidFill>
                <a:latin typeface="Trebuchet MS"/>
                <a:ea typeface="Trebuchet MS"/>
                <a:cs typeface="Trebuchet MS"/>
                <a:sym typeface="Trebuchet MS"/>
              </a:rPr>
              <a:t>A Comparative Analysis of</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C2C3E"/>
              </a:buClr>
              <a:buSzPts val="1700"/>
              <a:buFont typeface="Trebuchet MS"/>
              <a:buNone/>
            </a:pPr>
            <a:r>
              <a:rPr b="0" i="0" lang="en-US" sz="1700" u="none" cap="none" strike="noStrike">
                <a:solidFill>
                  <a:srgbClr val="2C2C3E"/>
                </a:solidFill>
                <a:latin typeface="Trebuchet MS"/>
                <a:ea typeface="Trebuchet MS"/>
                <a:cs typeface="Trebuchet MS"/>
                <a:sym typeface="Trebuchet MS"/>
              </a:rPr>
              <a:t>North Carolina, Seattle, and Oakland</a:t>
            </a:r>
            <a:endParaRPr b="0" i="0" sz="1700" u="none" cap="none" strike="noStrike">
              <a:solidFill>
                <a:schemeClr val="dk1"/>
              </a:solidFill>
              <a:latin typeface="Calibri"/>
              <a:ea typeface="Calibri"/>
              <a:cs typeface="Calibri"/>
              <a:sym typeface="Calibri"/>
            </a:endParaRPr>
          </a:p>
        </p:txBody>
      </p:sp>
      <p:cxnSp>
        <p:nvCxnSpPr>
          <p:cNvPr id="20" name="Google Shape;20;p1"/>
          <p:cNvCxnSpPr/>
          <p:nvPr/>
        </p:nvCxnSpPr>
        <p:spPr>
          <a:xfrm>
            <a:off x="3291840" y="2148840"/>
            <a:ext cx="5303520" cy="0"/>
          </a:xfrm>
          <a:prstGeom prst="straightConnector1">
            <a:avLst/>
          </a:prstGeom>
          <a:noFill/>
          <a:ln cap="flat" cmpd="sng" w="12700">
            <a:solidFill>
              <a:srgbClr val="D1D5DB"/>
            </a:solidFill>
            <a:prstDash val="solid"/>
            <a:round/>
            <a:headEnd len="sm" w="sm" type="none"/>
            <a:tailEnd len="sm" w="sm" type="none"/>
          </a:ln>
        </p:spPr>
      </p:cxnSp>
      <p:sp>
        <p:nvSpPr>
          <p:cNvPr id="21" name="Google Shape;21;p1"/>
          <p:cNvSpPr/>
          <p:nvPr/>
        </p:nvSpPr>
        <p:spPr>
          <a:xfrm>
            <a:off x="3291840" y="2331720"/>
            <a:ext cx="548640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1" i="0" lang="en-US" sz="1300" u="none" cap="none" strike="noStrike">
                <a:solidFill>
                  <a:srgbClr val="6B7280"/>
                </a:solidFill>
                <a:latin typeface="Calibri"/>
                <a:ea typeface="Calibri"/>
                <a:cs typeface="Calibri"/>
                <a:sym typeface="Calibri"/>
              </a:rPr>
              <a:t>Thomas (Ted) Henderson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7280"/>
              </a:buClr>
              <a:buSzPts val="1300"/>
              <a:buFont typeface="Calibri"/>
              <a:buNone/>
            </a:pPr>
            <a:r>
              <a:rPr b="0" i="0" lang="en-US" sz="1300" u="none" cap="none" strike="noStrike">
                <a:solidFill>
                  <a:srgbClr val="6B7280"/>
                </a:solidFill>
                <a:latin typeface="Calibri"/>
                <a:ea typeface="Calibri"/>
                <a:cs typeface="Calibri"/>
                <a:sym typeface="Calibri"/>
              </a:rPr>
              <a:t>ENG 675: Capstone in Technical Communication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7280"/>
              </a:buClr>
              <a:buSzPts val="1300"/>
              <a:buFont typeface="Calibri"/>
              <a:buNone/>
            </a:pPr>
            <a:r>
              <a:rPr b="0" i="0" lang="en-US" sz="1300" u="none" cap="none" strike="noStrike">
                <a:solidFill>
                  <a:srgbClr val="6B7280"/>
                </a:solidFill>
                <a:latin typeface="Calibri"/>
                <a:ea typeface="Calibri"/>
                <a:cs typeface="Calibri"/>
                <a:sym typeface="Calibri"/>
              </a:rPr>
              <a:t>NC State University  ·  Dr. McMullin  ·  Spring 2026</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2"/>
          <p:cNvSpPr/>
          <p:nvPr/>
        </p:nvSpPr>
        <p:spPr>
          <a:xfrm>
            <a:off x="502920" y="32004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200"/>
              <a:buFont typeface="Trebuchet MS"/>
              <a:buNone/>
            </a:pPr>
            <a:r>
              <a:rPr b="1" i="0" lang="en-US" sz="2200" u="none" cap="none" strike="noStrike">
                <a:solidFill>
                  <a:srgbClr val="1A1A2E"/>
                </a:solidFill>
                <a:latin typeface="Trebuchet MS"/>
                <a:ea typeface="Trebuchet MS"/>
                <a:cs typeface="Trebuchet MS"/>
                <a:sym typeface="Trebuchet MS"/>
              </a:rPr>
              <a:t>Research Context</a:t>
            </a:r>
            <a:endParaRPr b="0" i="0" sz="2200" u="none" cap="none" strike="noStrike">
              <a:solidFill>
                <a:schemeClr val="dk1"/>
              </a:solidFill>
              <a:latin typeface="Calibri"/>
              <a:ea typeface="Calibri"/>
              <a:cs typeface="Calibri"/>
              <a:sym typeface="Calibri"/>
            </a:endParaRPr>
          </a:p>
        </p:txBody>
      </p:sp>
      <p:cxnSp>
        <p:nvCxnSpPr>
          <p:cNvPr id="28" name="Google Shape;28;p2"/>
          <p:cNvCxnSpPr/>
          <p:nvPr/>
        </p:nvCxnSpPr>
        <p:spPr>
          <a:xfrm>
            <a:off x="502920" y="868680"/>
            <a:ext cx="8138160" cy="0"/>
          </a:xfrm>
          <a:prstGeom prst="straightConnector1">
            <a:avLst/>
          </a:prstGeom>
          <a:noFill/>
          <a:ln cap="flat" cmpd="sng" w="25400">
            <a:solidFill>
              <a:srgbClr val="1D6FA4"/>
            </a:solidFill>
            <a:prstDash val="solid"/>
            <a:round/>
            <a:headEnd len="sm" w="sm" type="none"/>
            <a:tailEnd len="sm" w="sm" type="none"/>
          </a:ln>
        </p:spPr>
      </p:cxnSp>
      <p:sp>
        <p:nvSpPr>
          <p:cNvPr id="29" name="Google Shape;29;p2"/>
          <p:cNvSpPr/>
          <p:nvPr/>
        </p:nvSpPr>
        <p:spPr>
          <a:xfrm>
            <a:off x="502920" y="1097280"/>
            <a:ext cx="19202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200"/>
              <a:buFont typeface="Trebuchet MS"/>
              <a:buNone/>
            </a:pPr>
            <a:r>
              <a:rPr b="1" i="0" lang="en-US" sz="1200" u="none" cap="none" strike="noStrike">
                <a:solidFill>
                  <a:srgbClr val="1D6FA4"/>
                </a:solidFill>
                <a:latin typeface="Trebuchet MS"/>
                <a:ea typeface="Trebuchet MS"/>
                <a:cs typeface="Trebuchet MS"/>
                <a:sym typeface="Trebuchet MS"/>
              </a:rPr>
              <a:t>The stakes</a:t>
            </a:r>
            <a:endParaRPr b="0" i="0" sz="1200" u="none" cap="none" strike="noStrike">
              <a:solidFill>
                <a:schemeClr val="dk1"/>
              </a:solidFill>
              <a:latin typeface="Calibri"/>
              <a:ea typeface="Calibri"/>
              <a:cs typeface="Calibri"/>
              <a:sym typeface="Calibri"/>
            </a:endParaRPr>
          </a:p>
        </p:txBody>
      </p:sp>
      <p:sp>
        <p:nvSpPr>
          <p:cNvPr id="30" name="Google Shape;30;p2"/>
          <p:cNvSpPr/>
          <p:nvPr/>
        </p:nvSpPr>
        <p:spPr>
          <a:xfrm>
            <a:off x="502920" y="1417320"/>
            <a:ext cx="8229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300"/>
              <a:buFont typeface="Calibri"/>
              <a:buNone/>
            </a:pPr>
            <a:r>
              <a:rPr b="0" i="0" lang="en-US" sz="1300" u="none" cap="none" strike="noStrike">
                <a:solidFill>
                  <a:srgbClr val="2C2C3E"/>
                </a:solidFill>
                <a:latin typeface="Calibri"/>
                <a:ea typeface="Calibri"/>
                <a:cs typeface="Calibri"/>
                <a:sym typeface="Calibri"/>
              </a:rPr>
              <a:t>Law enforcement agencies are rapidly deploying AI tools — facial recognition, predictive policing, surveillance systems — often with minimal public oversight or formal accountability structures.</a:t>
            </a:r>
            <a:endParaRPr b="0" i="0" sz="1300" u="none" cap="none" strike="noStrike">
              <a:solidFill>
                <a:schemeClr val="dk1"/>
              </a:solidFill>
              <a:latin typeface="Calibri"/>
              <a:ea typeface="Calibri"/>
              <a:cs typeface="Calibri"/>
              <a:sym typeface="Calibri"/>
            </a:endParaRPr>
          </a:p>
        </p:txBody>
      </p:sp>
      <p:cxnSp>
        <p:nvCxnSpPr>
          <p:cNvPr id="31" name="Google Shape;31;p2"/>
          <p:cNvCxnSpPr/>
          <p:nvPr/>
        </p:nvCxnSpPr>
        <p:spPr>
          <a:xfrm>
            <a:off x="502920" y="2240280"/>
            <a:ext cx="8138160" cy="0"/>
          </a:xfrm>
          <a:prstGeom prst="straightConnector1">
            <a:avLst/>
          </a:prstGeom>
          <a:noFill/>
          <a:ln cap="flat" cmpd="sng" w="9525">
            <a:solidFill>
              <a:srgbClr val="D1D5DB"/>
            </a:solidFill>
            <a:prstDash val="solid"/>
            <a:round/>
            <a:headEnd len="sm" w="sm" type="none"/>
            <a:tailEnd len="sm" w="sm" type="none"/>
          </a:ln>
        </p:spPr>
      </p:cxnSp>
      <p:sp>
        <p:nvSpPr>
          <p:cNvPr id="32" name="Google Shape;32;p2"/>
          <p:cNvSpPr/>
          <p:nvPr/>
        </p:nvSpPr>
        <p:spPr>
          <a:xfrm>
            <a:off x="502920" y="2359152"/>
            <a:ext cx="19202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200"/>
              <a:buFont typeface="Trebuchet MS"/>
              <a:buNone/>
            </a:pPr>
            <a:r>
              <a:rPr b="1" i="0" lang="en-US" sz="1200" u="none" cap="none" strike="noStrike">
                <a:solidFill>
                  <a:srgbClr val="1D6FA4"/>
                </a:solidFill>
                <a:latin typeface="Trebuchet MS"/>
                <a:ea typeface="Trebuchet MS"/>
                <a:cs typeface="Trebuchet MS"/>
                <a:sym typeface="Trebuchet MS"/>
              </a:rPr>
              <a:t>The gap</a:t>
            </a:r>
            <a:endParaRPr b="0" i="0" sz="1200" u="none" cap="none" strike="noStrike">
              <a:solidFill>
                <a:schemeClr val="dk1"/>
              </a:solidFill>
              <a:latin typeface="Calibri"/>
              <a:ea typeface="Calibri"/>
              <a:cs typeface="Calibri"/>
              <a:sym typeface="Calibri"/>
            </a:endParaRPr>
          </a:p>
        </p:txBody>
      </p:sp>
      <p:sp>
        <p:nvSpPr>
          <p:cNvPr id="33" name="Google Shape;33;p2"/>
          <p:cNvSpPr/>
          <p:nvPr/>
        </p:nvSpPr>
        <p:spPr>
          <a:xfrm>
            <a:off x="502920" y="2679192"/>
            <a:ext cx="8229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300"/>
              <a:buFont typeface="Calibri"/>
              <a:buNone/>
            </a:pPr>
            <a:r>
              <a:rPr b="0" i="0" lang="en-US" sz="1300" u="none" cap="none" strike="noStrike">
                <a:solidFill>
                  <a:srgbClr val="2C2C3E"/>
                </a:solidFill>
                <a:latin typeface="Calibri"/>
                <a:ea typeface="Calibri"/>
                <a:cs typeface="Calibri"/>
                <a:sym typeface="Calibri"/>
              </a:rPr>
              <a:t>When agencies do publish AI disclosure documents, quality varies enormously. Prior research offers no systematic explanation for why — and no tool to measure it.</a:t>
            </a:r>
            <a:endParaRPr b="0" i="0" sz="1300" u="none" cap="none" strike="noStrike">
              <a:solidFill>
                <a:schemeClr val="dk1"/>
              </a:solidFill>
              <a:latin typeface="Calibri"/>
              <a:ea typeface="Calibri"/>
              <a:cs typeface="Calibri"/>
              <a:sym typeface="Calibri"/>
            </a:endParaRPr>
          </a:p>
        </p:txBody>
      </p:sp>
      <p:cxnSp>
        <p:nvCxnSpPr>
          <p:cNvPr id="34" name="Google Shape;34;p2"/>
          <p:cNvCxnSpPr/>
          <p:nvPr/>
        </p:nvCxnSpPr>
        <p:spPr>
          <a:xfrm>
            <a:off x="502920" y="3502152"/>
            <a:ext cx="8138160" cy="0"/>
          </a:xfrm>
          <a:prstGeom prst="straightConnector1">
            <a:avLst/>
          </a:prstGeom>
          <a:noFill/>
          <a:ln cap="flat" cmpd="sng" w="9525">
            <a:solidFill>
              <a:srgbClr val="D1D5DB"/>
            </a:solidFill>
            <a:prstDash val="solid"/>
            <a:round/>
            <a:headEnd len="sm" w="sm" type="none"/>
            <a:tailEnd len="sm" w="sm" type="none"/>
          </a:ln>
        </p:spPr>
      </p:cxnSp>
      <p:sp>
        <p:nvSpPr>
          <p:cNvPr id="35" name="Google Shape;35;p2"/>
          <p:cNvSpPr/>
          <p:nvPr/>
        </p:nvSpPr>
        <p:spPr>
          <a:xfrm>
            <a:off x="502920" y="3621024"/>
            <a:ext cx="19202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200"/>
              <a:buFont typeface="Trebuchet MS"/>
              <a:buNone/>
            </a:pPr>
            <a:r>
              <a:rPr b="1" i="0" lang="en-US" sz="1200" u="none" cap="none" strike="noStrike">
                <a:solidFill>
                  <a:srgbClr val="1D6FA4"/>
                </a:solidFill>
                <a:latin typeface="Trebuchet MS"/>
                <a:ea typeface="Trebuchet MS"/>
                <a:cs typeface="Trebuchet MS"/>
                <a:sym typeface="Trebuchet MS"/>
              </a:rPr>
              <a:t>The opportunity</a:t>
            </a:r>
            <a:endParaRPr b="0" i="0" sz="1200" u="none" cap="none" strike="noStrike">
              <a:solidFill>
                <a:schemeClr val="dk1"/>
              </a:solidFill>
              <a:latin typeface="Calibri"/>
              <a:ea typeface="Calibri"/>
              <a:cs typeface="Calibri"/>
              <a:sym typeface="Calibri"/>
            </a:endParaRPr>
          </a:p>
        </p:txBody>
      </p:sp>
      <p:sp>
        <p:nvSpPr>
          <p:cNvPr id="36" name="Google Shape;36;p2"/>
          <p:cNvSpPr/>
          <p:nvPr/>
        </p:nvSpPr>
        <p:spPr>
          <a:xfrm>
            <a:off x="502920" y="3941064"/>
            <a:ext cx="8229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300"/>
              <a:buFont typeface="Calibri"/>
              <a:buNone/>
            </a:pPr>
            <a:r>
              <a:rPr b="0" i="0" lang="en-US" sz="1300" u="none" cap="none" strike="noStrike">
                <a:solidFill>
                  <a:srgbClr val="2C2C3E"/>
                </a:solidFill>
                <a:latin typeface="Calibri"/>
                <a:ea typeface="Calibri"/>
                <a:cs typeface="Calibri"/>
                <a:sym typeface="Calibri"/>
              </a:rPr>
              <a:t>Technical communication frameworks exist to evaluate exactly this kind of public-facing document. They have not been applied to law enforcement AI disclosure.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 name="Shape 41"/>
        <p:cNvGrpSpPr/>
        <p:nvPr/>
      </p:nvGrpSpPr>
      <p:grpSpPr>
        <a:xfrm>
          <a:off x="0" y="0"/>
          <a:ext cx="0" cy="0"/>
          <a:chOff x="0" y="0"/>
          <a:chExt cx="0" cy="0"/>
        </a:xfrm>
      </p:grpSpPr>
      <p:sp>
        <p:nvSpPr>
          <p:cNvPr id="42" name="Google Shape;42;p3"/>
          <p:cNvSpPr/>
          <p:nvPr/>
        </p:nvSpPr>
        <p:spPr>
          <a:xfrm>
            <a:off x="502920" y="32004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200"/>
              <a:buFont typeface="Trebuchet MS"/>
              <a:buNone/>
            </a:pPr>
            <a:r>
              <a:rPr b="1" i="0" lang="en-US" sz="2200" u="none" cap="none" strike="noStrike">
                <a:solidFill>
                  <a:srgbClr val="1A1A2E"/>
                </a:solidFill>
                <a:latin typeface="Trebuchet MS"/>
                <a:ea typeface="Trebuchet MS"/>
                <a:cs typeface="Trebuchet MS"/>
                <a:sym typeface="Trebuchet MS"/>
              </a:rPr>
              <a:t>Research Question &amp; Argument</a:t>
            </a:r>
            <a:endParaRPr b="0" i="0" sz="2200" u="none" cap="none" strike="noStrike">
              <a:solidFill>
                <a:schemeClr val="dk1"/>
              </a:solidFill>
              <a:latin typeface="Calibri"/>
              <a:ea typeface="Calibri"/>
              <a:cs typeface="Calibri"/>
              <a:sym typeface="Calibri"/>
            </a:endParaRPr>
          </a:p>
        </p:txBody>
      </p:sp>
      <p:cxnSp>
        <p:nvCxnSpPr>
          <p:cNvPr id="43" name="Google Shape;43;p3"/>
          <p:cNvCxnSpPr/>
          <p:nvPr/>
        </p:nvCxnSpPr>
        <p:spPr>
          <a:xfrm>
            <a:off x="502920" y="868680"/>
            <a:ext cx="8138160" cy="0"/>
          </a:xfrm>
          <a:prstGeom prst="straightConnector1">
            <a:avLst/>
          </a:prstGeom>
          <a:noFill/>
          <a:ln cap="flat" cmpd="sng" w="25400">
            <a:solidFill>
              <a:srgbClr val="1D6FA4"/>
            </a:solidFill>
            <a:prstDash val="solid"/>
            <a:round/>
            <a:headEnd len="sm" w="sm" type="none"/>
            <a:tailEnd len="sm" w="sm" type="none"/>
          </a:ln>
        </p:spPr>
      </p:cxnSp>
      <p:sp>
        <p:nvSpPr>
          <p:cNvPr id="44" name="Google Shape;44;p3"/>
          <p:cNvSpPr/>
          <p:nvPr/>
        </p:nvSpPr>
        <p:spPr>
          <a:xfrm>
            <a:off x="502920" y="1051560"/>
            <a:ext cx="813816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900"/>
              <a:buFont typeface="Trebuchet MS"/>
              <a:buNone/>
            </a:pPr>
            <a:r>
              <a:rPr b="0" i="1" lang="en-US" sz="1900" u="none" cap="none" strike="noStrike">
                <a:solidFill>
                  <a:srgbClr val="2C2C3E"/>
                </a:solidFill>
                <a:latin typeface="Trebuchet MS"/>
                <a:ea typeface="Trebuchet MS"/>
                <a:cs typeface="Trebuchet MS"/>
                <a:sym typeface="Trebuchet MS"/>
              </a:rPr>
              <a:t>How do institutional transparency frameworks shape the quality of public-facing AI disclosure documents in law enforcement?</a:t>
            </a:r>
            <a:endParaRPr b="0" i="0" sz="1900" u="none" cap="none" strike="noStrike">
              <a:solidFill>
                <a:schemeClr val="dk1"/>
              </a:solidFill>
              <a:latin typeface="Calibri"/>
              <a:ea typeface="Calibri"/>
              <a:cs typeface="Calibri"/>
              <a:sym typeface="Calibri"/>
            </a:endParaRPr>
          </a:p>
        </p:txBody>
      </p:sp>
      <p:cxnSp>
        <p:nvCxnSpPr>
          <p:cNvPr id="45" name="Google Shape;45;p3"/>
          <p:cNvCxnSpPr/>
          <p:nvPr/>
        </p:nvCxnSpPr>
        <p:spPr>
          <a:xfrm>
            <a:off x="502920" y="2514600"/>
            <a:ext cx="8138160" cy="0"/>
          </a:xfrm>
          <a:prstGeom prst="straightConnector1">
            <a:avLst/>
          </a:prstGeom>
          <a:noFill/>
          <a:ln cap="flat" cmpd="sng" w="9525">
            <a:solidFill>
              <a:srgbClr val="D1D5DB"/>
            </a:solidFill>
            <a:prstDash val="solid"/>
            <a:round/>
            <a:headEnd len="sm" w="sm" type="none"/>
            <a:tailEnd len="sm" w="sm" type="none"/>
          </a:ln>
        </p:spPr>
      </p:cxnSp>
      <p:sp>
        <p:nvSpPr>
          <p:cNvPr id="46" name="Google Shape;46;p3"/>
          <p:cNvSpPr/>
          <p:nvPr/>
        </p:nvSpPr>
        <p:spPr>
          <a:xfrm>
            <a:off x="502920" y="2651760"/>
            <a:ext cx="8229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200"/>
              <a:buFont typeface="Trebuchet MS"/>
              <a:buNone/>
            </a:pPr>
            <a:r>
              <a:rPr b="1" i="0" lang="en-US" sz="1200" u="none" cap="none" strike="noStrike">
                <a:solidFill>
                  <a:srgbClr val="1D6FA4"/>
                </a:solidFill>
                <a:latin typeface="Trebuchet MS"/>
                <a:ea typeface="Trebuchet MS"/>
                <a:cs typeface="Trebuchet MS"/>
                <a:sym typeface="Trebuchet MS"/>
              </a:rPr>
              <a:t>Core argument</a:t>
            </a:r>
            <a:endParaRPr b="0" i="0" sz="1200" u="none" cap="none" strike="noStrike">
              <a:solidFill>
                <a:schemeClr val="dk1"/>
              </a:solidFill>
              <a:latin typeface="Calibri"/>
              <a:ea typeface="Calibri"/>
              <a:cs typeface="Calibri"/>
              <a:sym typeface="Calibri"/>
            </a:endParaRPr>
          </a:p>
        </p:txBody>
      </p:sp>
      <p:sp>
        <p:nvSpPr>
          <p:cNvPr id="47" name="Google Shape;47;p3"/>
          <p:cNvSpPr/>
          <p:nvPr/>
        </p:nvSpPr>
        <p:spPr>
          <a:xfrm>
            <a:off x="502920" y="2944368"/>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350"/>
              <a:buFont typeface="Calibri"/>
              <a:buNone/>
            </a:pPr>
            <a:r>
              <a:rPr b="0" i="0" lang="en-US" sz="1350" u="none" cap="none" strike="noStrike">
                <a:solidFill>
                  <a:srgbClr val="2C2C3E"/>
                </a:solidFill>
                <a:latin typeface="Calibri"/>
                <a:ea typeface="Calibri"/>
                <a:cs typeface="Calibri"/>
                <a:sym typeface="Calibri"/>
              </a:rPr>
              <a:t>Institutional transparency frameworks — not individual agency choices — are the primary driver of disclosure document quality. Agencies operating under mandatory frameworks consistently produce more findable, comprehensible, and usable documents.</a:t>
            </a:r>
            <a:endParaRPr b="0" i="0" sz="1350" u="none" cap="none" strike="noStrike">
              <a:solidFill>
                <a:schemeClr val="dk1"/>
              </a:solidFill>
              <a:latin typeface="Calibri"/>
              <a:ea typeface="Calibri"/>
              <a:cs typeface="Calibri"/>
              <a:sym typeface="Calibri"/>
            </a:endParaRPr>
          </a:p>
        </p:txBody>
      </p:sp>
      <p:cxnSp>
        <p:nvCxnSpPr>
          <p:cNvPr id="48" name="Google Shape;48;p3"/>
          <p:cNvCxnSpPr/>
          <p:nvPr/>
        </p:nvCxnSpPr>
        <p:spPr>
          <a:xfrm>
            <a:off x="502920" y="3886200"/>
            <a:ext cx="8138160" cy="0"/>
          </a:xfrm>
          <a:prstGeom prst="straightConnector1">
            <a:avLst/>
          </a:prstGeom>
          <a:noFill/>
          <a:ln cap="flat" cmpd="sng" w="9525">
            <a:solidFill>
              <a:srgbClr val="D1D5DB"/>
            </a:solidFill>
            <a:prstDash val="solid"/>
            <a:round/>
            <a:headEnd len="sm" w="sm" type="none"/>
            <a:tailEnd len="sm" w="sm" type="none"/>
          </a:ln>
        </p:spPr>
      </p:cxnSp>
      <p:sp>
        <p:nvSpPr>
          <p:cNvPr id="49" name="Google Shape;49;p3"/>
          <p:cNvSpPr/>
          <p:nvPr/>
        </p:nvSpPr>
        <p:spPr>
          <a:xfrm>
            <a:off x="502920" y="4005072"/>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200"/>
              <a:buFont typeface="Trebuchet MS"/>
              <a:buNone/>
            </a:pPr>
            <a:r>
              <a:rPr b="1" i="0" lang="en-US" sz="1200" u="none" cap="none" strike="noStrike">
                <a:solidFill>
                  <a:srgbClr val="1D6FA4"/>
                </a:solidFill>
                <a:latin typeface="Trebuchet MS"/>
                <a:ea typeface="Trebuchet MS"/>
                <a:cs typeface="Trebuchet MS"/>
                <a:sym typeface="Trebuchet MS"/>
              </a:rPr>
              <a:t>Paper contribution</a:t>
            </a:r>
            <a:endParaRPr b="0" i="0" sz="1200" u="none" cap="none" strike="noStrike">
              <a:solidFill>
                <a:schemeClr val="dk1"/>
              </a:solidFill>
              <a:latin typeface="Calibri"/>
              <a:ea typeface="Calibri"/>
              <a:cs typeface="Calibri"/>
              <a:sym typeface="Calibri"/>
            </a:endParaRPr>
          </a:p>
        </p:txBody>
      </p:sp>
      <p:sp>
        <p:nvSpPr>
          <p:cNvPr id="50" name="Google Shape;50;p3"/>
          <p:cNvSpPr/>
          <p:nvPr/>
        </p:nvSpPr>
        <p:spPr>
          <a:xfrm>
            <a:off x="502920" y="4279392"/>
            <a:ext cx="81381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A replicable methodological tool for technical communication practitioners evaluating public-sector AI disclosure.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 name="Shape 55"/>
        <p:cNvGrpSpPr/>
        <p:nvPr/>
      </p:nvGrpSpPr>
      <p:grpSpPr>
        <a:xfrm>
          <a:off x="0" y="0"/>
          <a:ext cx="0" cy="0"/>
          <a:chOff x="0" y="0"/>
          <a:chExt cx="0" cy="0"/>
        </a:xfrm>
      </p:grpSpPr>
      <p:sp>
        <p:nvSpPr>
          <p:cNvPr id="56" name="Google Shape;56;p4"/>
          <p:cNvSpPr/>
          <p:nvPr/>
        </p:nvSpPr>
        <p:spPr>
          <a:xfrm>
            <a:off x="502920" y="32004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200"/>
              <a:buFont typeface="Trebuchet MS"/>
              <a:buNone/>
            </a:pPr>
            <a:r>
              <a:rPr b="1" i="0" lang="en-US" sz="2200" u="none" cap="none" strike="noStrike">
                <a:solidFill>
                  <a:srgbClr val="1A1A2E"/>
                </a:solidFill>
                <a:latin typeface="Trebuchet MS"/>
                <a:ea typeface="Trebuchet MS"/>
                <a:cs typeface="Trebuchet MS"/>
                <a:sym typeface="Trebuchet MS"/>
              </a:rPr>
              <a:t>Literature &amp; Prior Work</a:t>
            </a:r>
            <a:endParaRPr b="0" i="0" sz="2200" u="none" cap="none" strike="noStrike">
              <a:solidFill>
                <a:schemeClr val="dk1"/>
              </a:solidFill>
              <a:latin typeface="Calibri"/>
              <a:ea typeface="Calibri"/>
              <a:cs typeface="Calibri"/>
              <a:sym typeface="Calibri"/>
            </a:endParaRPr>
          </a:p>
        </p:txBody>
      </p:sp>
      <p:cxnSp>
        <p:nvCxnSpPr>
          <p:cNvPr id="57" name="Google Shape;57;p4"/>
          <p:cNvCxnSpPr/>
          <p:nvPr/>
        </p:nvCxnSpPr>
        <p:spPr>
          <a:xfrm>
            <a:off x="502920" y="868680"/>
            <a:ext cx="8138160" cy="0"/>
          </a:xfrm>
          <a:prstGeom prst="straightConnector1">
            <a:avLst/>
          </a:prstGeom>
          <a:noFill/>
          <a:ln cap="flat" cmpd="sng" w="25400">
            <a:solidFill>
              <a:srgbClr val="1D6FA4"/>
            </a:solidFill>
            <a:prstDash val="solid"/>
            <a:round/>
            <a:headEnd len="sm" w="sm" type="none"/>
            <a:tailEnd len="sm" w="sm" type="none"/>
          </a:ln>
        </p:spPr>
      </p:cxnSp>
      <p:sp>
        <p:nvSpPr>
          <p:cNvPr id="58" name="Google Shape;58;p4"/>
          <p:cNvSpPr/>
          <p:nvPr/>
        </p:nvSpPr>
        <p:spPr>
          <a:xfrm>
            <a:off x="502920" y="987552"/>
            <a:ext cx="81381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This study sits at the intersection of three bodies of work:</a:t>
            </a:r>
            <a:endParaRPr b="0" i="0" sz="1300" u="none" cap="none" strike="noStrike">
              <a:solidFill>
                <a:schemeClr val="dk1"/>
              </a:solidFill>
              <a:latin typeface="Calibri"/>
              <a:ea typeface="Calibri"/>
              <a:cs typeface="Calibri"/>
              <a:sym typeface="Calibri"/>
            </a:endParaRPr>
          </a:p>
        </p:txBody>
      </p:sp>
      <p:sp>
        <p:nvSpPr>
          <p:cNvPr id="59" name="Google Shape;59;p4"/>
          <p:cNvSpPr/>
          <p:nvPr/>
        </p:nvSpPr>
        <p:spPr>
          <a:xfrm>
            <a:off x="502920" y="1463040"/>
            <a:ext cx="8138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200"/>
              <a:buFont typeface="Trebuchet MS"/>
              <a:buNone/>
            </a:pPr>
            <a:r>
              <a:rPr b="1" i="0" lang="en-US" sz="1200" u="none" cap="none" strike="noStrike">
                <a:solidFill>
                  <a:srgbClr val="1D6FA4"/>
                </a:solidFill>
                <a:latin typeface="Trebuchet MS"/>
                <a:ea typeface="Trebuchet MS"/>
                <a:cs typeface="Trebuchet MS"/>
                <a:sym typeface="Trebuchet MS"/>
              </a:rPr>
              <a:t>Algorithmic accountability &amp; surveillance law</a:t>
            </a:r>
            <a:endParaRPr b="0" i="0" sz="1200" u="none" cap="none" strike="noStrike">
              <a:solidFill>
                <a:schemeClr val="dk1"/>
              </a:solidFill>
              <a:latin typeface="Calibri"/>
              <a:ea typeface="Calibri"/>
              <a:cs typeface="Calibri"/>
              <a:sym typeface="Calibri"/>
            </a:endParaRPr>
          </a:p>
        </p:txBody>
      </p:sp>
      <p:sp>
        <p:nvSpPr>
          <p:cNvPr id="60" name="Google Shape;60;p4"/>
          <p:cNvSpPr/>
          <p:nvPr/>
        </p:nvSpPr>
        <p:spPr>
          <a:xfrm>
            <a:off x="502920" y="1773936"/>
            <a:ext cx="81381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Richardson, Schultz &amp; Crawford (2019) document how historically biased policing records are embedded in predictive systems without public disclosure, establishing the stakes for transparency in law enforcement AI.</a:t>
            </a:r>
            <a:endParaRPr b="0" i="0" sz="1250" u="none" cap="none" strike="noStrike">
              <a:solidFill>
                <a:schemeClr val="dk1"/>
              </a:solidFill>
              <a:latin typeface="Calibri"/>
              <a:ea typeface="Calibri"/>
              <a:cs typeface="Calibri"/>
              <a:sym typeface="Calibri"/>
            </a:endParaRPr>
          </a:p>
        </p:txBody>
      </p:sp>
      <p:cxnSp>
        <p:nvCxnSpPr>
          <p:cNvPr id="61" name="Google Shape;61;p4"/>
          <p:cNvCxnSpPr/>
          <p:nvPr/>
        </p:nvCxnSpPr>
        <p:spPr>
          <a:xfrm>
            <a:off x="502920" y="2505456"/>
            <a:ext cx="8138160" cy="0"/>
          </a:xfrm>
          <a:prstGeom prst="straightConnector1">
            <a:avLst/>
          </a:prstGeom>
          <a:noFill/>
          <a:ln cap="flat" cmpd="sng" w="9525">
            <a:solidFill>
              <a:srgbClr val="D1D5DB"/>
            </a:solidFill>
            <a:prstDash val="solid"/>
            <a:round/>
            <a:headEnd len="sm" w="sm" type="none"/>
            <a:tailEnd len="sm" w="sm" type="none"/>
          </a:ln>
        </p:spPr>
      </p:cxnSp>
      <p:sp>
        <p:nvSpPr>
          <p:cNvPr id="62" name="Google Shape;62;p4"/>
          <p:cNvSpPr/>
          <p:nvPr/>
        </p:nvSpPr>
        <p:spPr>
          <a:xfrm>
            <a:off x="502920" y="2606040"/>
            <a:ext cx="8138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200"/>
              <a:buFont typeface="Trebuchet MS"/>
              <a:buNone/>
            </a:pPr>
            <a:r>
              <a:rPr b="1" i="0" lang="en-US" sz="1200" u="none" cap="none" strike="noStrike">
                <a:solidFill>
                  <a:srgbClr val="1D6FA4"/>
                </a:solidFill>
                <a:latin typeface="Trebuchet MS"/>
                <a:ea typeface="Trebuchet MS"/>
                <a:cs typeface="Trebuchet MS"/>
                <a:sym typeface="Trebuchet MS"/>
              </a:rPr>
              <a:t>Technical communication &amp; plain language</a:t>
            </a:r>
            <a:endParaRPr b="0" i="0" sz="1200" u="none" cap="none" strike="noStrike">
              <a:solidFill>
                <a:schemeClr val="dk1"/>
              </a:solidFill>
              <a:latin typeface="Calibri"/>
              <a:ea typeface="Calibri"/>
              <a:cs typeface="Calibri"/>
              <a:sym typeface="Calibri"/>
            </a:endParaRPr>
          </a:p>
        </p:txBody>
      </p:sp>
      <p:sp>
        <p:nvSpPr>
          <p:cNvPr id="63" name="Google Shape;63;p4"/>
          <p:cNvSpPr/>
          <p:nvPr/>
        </p:nvSpPr>
        <p:spPr>
          <a:xfrm>
            <a:off x="502920" y="2916936"/>
            <a:ext cx="81381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Redish's framework for evaluating public-facing documents provides the analytical backbone of this study. Findability, comprehensibility, and usability are established TC criteria for assessing whether documents serve their intended audiences.</a:t>
            </a:r>
            <a:endParaRPr b="0" i="0" sz="1250" u="none" cap="none" strike="noStrike">
              <a:solidFill>
                <a:schemeClr val="dk1"/>
              </a:solidFill>
              <a:latin typeface="Calibri"/>
              <a:ea typeface="Calibri"/>
              <a:cs typeface="Calibri"/>
              <a:sym typeface="Calibri"/>
            </a:endParaRPr>
          </a:p>
        </p:txBody>
      </p:sp>
      <p:cxnSp>
        <p:nvCxnSpPr>
          <p:cNvPr id="64" name="Google Shape;64;p4"/>
          <p:cNvCxnSpPr/>
          <p:nvPr/>
        </p:nvCxnSpPr>
        <p:spPr>
          <a:xfrm>
            <a:off x="502920" y="3648456"/>
            <a:ext cx="8138160" cy="0"/>
          </a:xfrm>
          <a:prstGeom prst="straightConnector1">
            <a:avLst/>
          </a:prstGeom>
          <a:noFill/>
          <a:ln cap="flat" cmpd="sng" w="9525">
            <a:solidFill>
              <a:srgbClr val="D1D5DB"/>
            </a:solidFill>
            <a:prstDash val="solid"/>
            <a:round/>
            <a:headEnd len="sm" w="sm" type="none"/>
            <a:tailEnd len="sm" w="sm" type="none"/>
          </a:ln>
        </p:spPr>
      </p:cxnSp>
      <p:sp>
        <p:nvSpPr>
          <p:cNvPr id="65" name="Google Shape;65;p4"/>
          <p:cNvSpPr/>
          <p:nvPr/>
        </p:nvSpPr>
        <p:spPr>
          <a:xfrm>
            <a:off x="502920" y="3749040"/>
            <a:ext cx="8138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200"/>
              <a:buFont typeface="Trebuchet MS"/>
              <a:buNone/>
            </a:pPr>
            <a:r>
              <a:rPr b="1" i="0" lang="en-US" sz="1200" u="none" cap="none" strike="noStrike">
                <a:solidFill>
                  <a:srgbClr val="1D6FA4"/>
                </a:solidFill>
                <a:latin typeface="Trebuchet MS"/>
                <a:ea typeface="Trebuchet MS"/>
                <a:cs typeface="Trebuchet MS"/>
                <a:sym typeface="Trebuchet MS"/>
              </a:rPr>
              <a:t>Public-sector AI governance</a:t>
            </a:r>
            <a:endParaRPr b="0" i="0" sz="1200" u="none" cap="none" strike="noStrike">
              <a:solidFill>
                <a:schemeClr val="dk1"/>
              </a:solidFill>
              <a:latin typeface="Calibri"/>
              <a:ea typeface="Calibri"/>
              <a:cs typeface="Calibri"/>
              <a:sym typeface="Calibri"/>
            </a:endParaRPr>
          </a:p>
        </p:txBody>
      </p:sp>
      <p:sp>
        <p:nvSpPr>
          <p:cNvPr id="66" name="Google Shape;66;p4"/>
          <p:cNvSpPr/>
          <p:nvPr/>
        </p:nvSpPr>
        <p:spPr>
          <a:xfrm>
            <a:off x="502920" y="4059936"/>
            <a:ext cx="81381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Municipal surveillance ordinances (Seattle SMC 14.18, Oakland OMC 9.64) represent an emerging policy genre. This study treats them as the independent variable — examining what mandated frameworks produce in practice, not just in theory.</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5"/>
          <p:cNvSpPr/>
          <p:nvPr/>
        </p:nvSpPr>
        <p:spPr>
          <a:xfrm>
            <a:off x="502920" y="32004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200"/>
              <a:buFont typeface="Trebuchet MS"/>
              <a:buNone/>
            </a:pPr>
            <a:r>
              <a:rPr b="1" i="0" lang="en-US" sz="2200" u="none" cap="none" strike="noStrike">
                <a:solidFill>
                  <a:srgbClr val="1A1A2E"/>
                </a:solidFill>
                <a:latin typeface="Trebuchet MS"/>
                <a:ea typeface="Trebuchet MS"/>
                <a:cs typeface="Trebuchet MS"/>
                <a:sym typeface="Trebuchet MS"/>
              </a:rPr>
              <a:t>Content Analysis</a:t>
            </a:r>
            <a:endParaRPr b="0" i="0" sz="2200" u="none" cap="none" strike="noStrike">
              <a:solidFill>
                <a:schemeClr val="dk1"/>
              </a:solidFill>
              <a:latin typeface="Calibri"/>
              <a:ea typeface="Calibri"/>
              <a:cs typeface="Calibri"/>
              <a:sym typeface="Calibri"/>
            </a:endParaRPr>
          </a:p>
        </p:txBody>
      </p:sp>
      <p:cxnSp>
        <p:nvCxnSpPr>
          <p:cNvPr id="72" name="Google Shape;72;p5"/>
          <p:cNvCxnSpPr/>
          <p:nvPr/>
        </p:nvCxnSpPr>
        <p:spPr>
          <a:xfrm>
            <a:off x="502920" y="868680"/>
            <a:ext cx="8138160" cy="0"/>
          </a:xfrm>
          <a:prstGeom prst="straightConnector1">
            <a:avLst/>
          </a:prstGeom>
          <a:noFill/>
          <a:ln cap="flat" cmpd="sng" w="25400">
            <a:solidFill>
              <a:srgbClr val="1D6FA4"/>
            </a:solidFill>
            <a:prstDash val="solid"/>
            <a:round/>
            <a:headEnd len="sm" w="sm" type="none"/>
            <a:tailEnd len="sm" w="sm" type="none"/>
          </a:ln>
        </p:spPr>
      </p:cxnSp>
      <p:sp>
        <p:nvSpPr>
          <p:cNvPr id="73" name="Google Shape;73;p5"/>
          <p:cNvSpPr/>
          <p:nvPr/>
        </p:nvSpPr>
        <p:spPr>
          <a:xfrm>
            <a:off x="502920" y="98755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0" lang="en-US" sz="1300" u="none" cap="none" strike="noStrike">
                <a:solidFill>
                  <a:srgbClr val="6B7280"/>
                </a:solidFill>
                <a:latin typeface="Calibri"/>
                <a:ea typeface="Calibri"/>
                <a:cs typeface="Calibri"/>
                <a:sym typeface="Calibri"/>
              </a:rPr>
              <a:t>The method that makes the findings systematic rather than interpretive</a:t>
            </a:r>
            <a:endParaRPr b="0" i="0" sz="1300" u="none" cap="none" strike="noStrike">
              <a:solidFill>
                <a:schemeClr val="dk1"/>
              </a:solidFill>
              <a:latin typeface="Calibri"/>
              <a:ea typeface="Calibri"/>
              <a:cs typeface="Calibri"/>
              <a:sym typeface="Calibri"/>
            </a:endParaRPr>
          </a:p>
        </p:txBody>
      </p:sp>
      <p:sp>
        <p:nvSpPr>
          <p:cNvPr id="74" name="Google Shape;74;p5"/>
          <p:cNvSpPr/>
          <p:nvPr/>
        </p:nvSpPr>
        <p:spPr>
          <a:xfrm>
            <a:off x="502920" y="1463040"/>
            <a:ext cx="777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D5DB"/>
              </a:buClr>
              <a:buSzPts val="3600"/>
              <a:buFont typeface="Trebuchet MS"/>
              <a:buNone/>
            </a:pPr>
            <a:r>
              <a:rPr b="1" i="0" lang="en-US" sz="3600" u="none" cap="none" strike="noStrike">
                <a:solidFill>
                  <a:srgbClr val="D1D5DB"/>
                </a:solidFill>
                <a:latin typeface="Trebuchet MS"/>
                <a:ea typeface="Trebuchet MS"/>
                <a:cs typeface="Trebuchet MS"/>
                <a:sym typeface="Trebuchet MS"/>
              </a:rPr>
              <a:t>01</a:t>
            </a:r>
            <a:endParaRPr b="0" i="0" sz="3600" u="none" cap="none" strike="noStrike">
              <a:solidFill>
                <a:schemeClr val="dk1"/>
              </a:solidFill>
              <a:latin typeface="Calibri"/>
              <a:ea typeface="Calibri"/>
              <a:cs typeface="Calibri"/>
              <a:sym typeface="Calibri"/>
            </a:endParaRPr>
          </a:p>
        </p:txBody>
      </p:sp>
      <p:sp>
        <p:nvSpPr>
          <p:cNvPr id="75" name="Google Shape;75;p5"/>
          <p:cNvSpPr/>
          <p:nvPr/>
        </p:nvSpPr>
        <p:spPr>
          <a:xfrm>
            <a:off x="1296388" y="1504225"/>
            <a:ext cx="21621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500"/>
              <a:buFont typeface="Trebuchet MS"/>
              <a:buNone/>
            </a:pPr>
            <a:r>
              <a:rPr b="1" lang="en-US" sz="1500">
                <a:solidFill>
                  <a:srgbClr val="1A1A2E"/>
                </a:solidFill>
                <a:latin typeface="Trebuchet MS"/>
                <a:ea typeface="Trebuchet MS"/>
                <a:cs typeface="Trebuchet MS"/>
                <a:sym typeface="Trebuchet MS"/>
              </a:rPr>
              <a:t>Description:</a:t>
            </a:r>
            <a:endParaRPr b="0" i="0" sz="1500" u="none" cap="none" strike="noStrike">
              <a:solidFill>
                <a:schemeClr val="dk1"/>
              </a:solidFill>
              <a:latin typeface="Calibri"/>
              <a:ea typeface="Calibri"/>
              <a:cs typeface="Calibri"/>
              <a:sym typeface="Calibri"/>
            </a:endParaRPr>
          </a:p>
        </p:txBody>
      </p:sp>
      <p:sp>
        <p:nvSpPr>
          <p:cNvPr id="76" name="Google Shape;76;p5"/>
          <p:cNvSpPr/>
          <p:nvPr/>
        </p:nvSpPr>
        <p:spPr>
          <a:xfrm>
            <a:off x="1371600" y="1828800"/>
            <a:ext cx="7223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Content analysis is a method for systematically examining the characteristics of documents. Criteria are defined before any document is examined, then applied consistently across every item in the corpus. The result is coded data, not interpretation.</a:t>
            </a:r>
            <a:endParaRPr b="0" i="0" sz="1250" u="none" cap="none" strike="noStrike">
              <a:solidFill>
                <a:schemeClr val="dk1"/>
              </a:solidFill>
              <a:latin typeface="Calibri"/>
              <a:ea typeface="Calibri"/>
              <a:cs typeface="Calibri"/>
              <a:sym typeface="Calibri"/>
            </a:endParaRPr>
          </a:p>
        </p:txBody>
      </p:sp>
      <p:cxnSp>
        <p:nvCxnSpPr>
          <p:cNvPr id="77" name="Google Shape;77;p5"/>
          <p:cNvCxnSpPr/>
          <p:nvPr/>
        </p:nvCxnSpPr>
        <p:spPr>
          <a:xfrm>
            <a:off x="1371600" y="2468880"/>
            <a:ext cx="7223760" cy="0"/>
          </a:xfrm>
          <a:prstGeom prst="straightConnector1">
            <a:avLst/>
          </a:prstGeom>
          <a:noFill/>
          <a:ln cap="flat" cmpd="sng" w="9525">
            <a:solidFill>
              <a:srgbClr val="D1D5DB"/>
            </a:solidFill>
            <a:prstDash val="solid"/>
            <a:round/>
            <a:headEnd len="sm" w="sm" type="none"/>
            <a:tailEnd len="sm" w="sm" type="none"/>
          </a:ln>
        </p:spPr>
      </p:cxnSp>
      <p:sp>
        <p:nvSpPr>
          <p:cNvPr id="78" name="Google Shape;78;p5"/>
          <p:cNvSpPr/>
          <p:nvPr/>
        </p:nvSpPr>
        <p:spPr>
          <a:xfrm>
            <a:off x="502920" y="2606040"/>
            <a:ext cx="777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D5DB"/>
              </a:buClr>
              <a:buSzPts val="3600"/>
              <a:buFont typeface="Trebuchet MS"/>
              <a:buNone/>
            </a:pPr>
            <a:r>
              <a:rPr b="1" i="0" lang="en-US" sz="3600" u="none" cap="none" strike="noStrike">
                <a:solidFill>
                  <a:srgbClr val="D1D5DB"/>
                </a:solidFill>
                <a:latin typeface="Trebuchet MS"/>
                <a:ea typeface="Trebuchet MS"/>
                <a:cs typeface="Trebuchet MS"/>
                <a:sym typeface="Trebuchet MS"/>
              </a:rPr>
              <a:t>02</a:t>
            </a:r>
            <a:endParaRPr b="0" i="0" sz="3600" u="none" cap="none" strike="noStrike">
              <a:solidFill>
                <a:schemeClr val="dk1"/>
              </a:solidFill>
              <a:latin typeface="Calibri"/>
              <a:ea typeface="Calibri"/>
              <a:cs typeface="Calibri"/>
              <a:sym typeface="Calibri"/>
            </a:endParaRPr>
          </a:p>
        </p:txBody>
      </p:sp>
      <p:sp>
        <p:nvSpPr>
          <p:cNvPr id="79" name="Google Shape;79;p5"/>
          <p:cNvSpPr/>
          <p:nvPr/>
        </p:nvSpPr>
        <p:spPr>
          <a:xfrm>
            <a:off x="1371600" y="2624328"/>
            <a:ext cx="20116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500"/>
              <a:buFont typeface="Trebuchet MS"/>
              <a:buNone/>
            </a:pPr>
            <a:r>
              <a:rPr b="1" i="0" lang="en-US" sz="1500" u="none" cap="none" strike="noStrike">
                <a:solidFill>
                  <a:srgbClr val="1A1A2E"/>
                </a:solidFill>
                <a:latin typeface="Trebuchet MS"/>
                <a:ea typeface="Trebuchet MS"/>
                <a:cs typeface="Trebuchet MS"/>
                <a:sym typeface="Trebuchet MS"/>
              </a:rPr>
              <a:t>How it works in this study</a:t>
            </a:r>
            <a:endParaRPr b="0" i="0" sz="1500" u="none" cap="none" strike="noStrike">
              <a:solidFill>
                <a:schemeClr val="dk1"/>
              </a:solidFill>
              <a:latin typeface="Calibri"/>
              <a:ea typeface="Calibri"/>
              <a:cs typeface="Calibri"/>
              <a:sym typeface="Calibri"/>
            </a:endParaRPr>
          </a:p>
        </p:txBody>
      </p:sp>
      <p:sp>
        <p:nvSpPr>
          <p:cNvPr id="80" name="Google Shape;80;p5"/>
          <p:cNvSpPr/>
          <p:nvPr/>
        </p:nvSpPr>
        <p:spPr>
          <a:xfrm>
            <a:off x="1371600" y="2971800"/>
            <a:ext cx="7223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Eleven documents. Coding criteria established before collection. Every document scored on every criterion. Rating plus supporting evidence recorded in a spreadsheet for each item. That spreadsheet is the data.</a:t>
            </a:r>
            <a:endParaRPr b="0" i="0" sz="1250" u="none" cap="none" strike="noStrike">
              <a:solidFill>
                <a:schemeClr val="dk1"/>
              </a:solidFill>
              <a:latin typeface="Calibri"/>
              <a:ea typeface="Calibri"/>
              <a:cs typeface="Calibri"/>
              <a:sym typeface="Calibri"/>
            </a:endParaRPr>
          </a:p>
        </p:txBody>
      </p:sp>
      <p:cxnSp>
        <p:nvCxnSpPr>
          <p:cNvPr id="81" name="Google Shape;81;p5"/>
          <p:cNvCxnSpPr/>
          <p:nvPr/>
        </p:nvCxnSpPr>
        <p:spPr>
          <a:xfrm>
            <a:off x="1371600" y="3611880"/>
            <a:ext cx="7223760" cy="0"/>
          </a:xfrm>
          <a:prstGeom prst="straightConnector1">
            <a:avLst/>
          </a:prstGeom>
          <a:noFill/>
          <a:ln cap="flat" cmpd="sng" w="9525">
            <a:solidFill>
              <a:srgbClr val="D1D5DB"/>
            </a:solidFill>
            <a:prstDash val="solid"/>
            <a:round/>
            <a:headEnd len="sm" w="sm" type="none"/>
            <a:tailEnd len="sm" w="sm" type="none"/>
          </a:ln>
        </p:spPr>
      </p:cxnSp>
      <p:sp>
        <p:nvSpPr>
          <p:cNvPr id="82" name="Google Shape;82;p5"/>
          <p:cNvSpPr/>
          <p:nvPr/>
        </p:nvSpPr>
        <p:spPr>
          <a:xfrm>
            <a:off x="502920" y="3749040"/>
            <a:ext cx="777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D5DB"/>
              </a:buClr>
              <a:buSzPts val="3600"/>
              <a:buFont typeface="Trebuchet MS"/>
              <a:buNone/>
            </a:pPr>
            <a:r>
              <a:rPr b="1" i="0" lang="en-US" sz="3600" u="none" cap="none" strike="noStrike">
                <a:solidFill>
                  <a:srgbClr val="D1D5DB"/>
                </a:solidFill>
                <a:latin typeface="Trebuchet MS"/>
                <a:ea typeface="Trebuchet MS"/>
                <a:cs typeface="Trebuchet MS"/>
                <a:sym typeface="Trebuchet MS"/>
              </a:rPr>
              <a:t>03</a:t>
            </a:r>
            <a:endParaRPr b="0" i="0" sz="3600" u="none" cap="none" strike="noStrike">
              <a:solidFill>
                <a:schemeClr val="dk1"/>
              </a:solidFill>
              <a:latin typeface="Calibri"/>
              <a:ea typeface="Calibri"/>
              <a:cs typeface="Calibri"/>
              <a:sym typeface="Calibri"/>
            </a:endParaRPr>
          </a:p>
        </p:txBody>
      </p:sp>
      <p:sp>
        <p:nvSpPr>
          <p:cNvPr id="83" name="Google Shape;83;p5"/>
          <p:cNvSpPr/>
          <p:nvPr/>
        </p:nvSpPr>
        <p:spPr>
          <a:xfrm>
            <a:off x="1371600" y="3767328"/>
            <a:ext cx="20116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500"/>
              <a:buFont typeface="Trebuchet MS"/>
              <a:buNone/>
            </a:pPr>
            <a:r>
              <a:rPr b="1" i="0" lang="en-US" sz="1500" u="none" cap="none" strike="noStrike">
                <a:solidFill>
                  <a:srgbClr val="1A1A2E"/>
                </a:solidFill>
                <a:latin typeface="Trebuchet MS"/>
                <a:ea typeface="Trebuchet MS"/>
                <a:cs typeface="Trebuchet MS"/>
                <a:sym typeface="Trebuchet MS"/>
              </a:rPr>
              <a:t>Why it matters</a:t>
            </a:r>
            <a:endParaRPr b="0" i="0" sz="1500" u="none" cap="none" strike="noStrike">
              <a:solidFill>
                <a:schemeClr val="dk1"/>
              </a:solidFill>
              <a:latin typeface="Calibri"/>
              <a:ea typeface="Calibri"/>
              <a:cs typeface="Calibri"/>
              <a:sym typeface="Calibri"/>
            </a:endParaRPr>
          </a:p>
        </p:txBody>
      </p:sp>
      <p:sp>
        <p:nvSpPr>
          <p:cNvPr id="84" name="Google Shape;84;p5"/>
          <p:cNvSpPr/>
          <p:nvPr/>
        </p:nvSpPr>
        <p:spPr>
          <a:xfrm>
            <a:off x="1371600" y="4114800"/>
            <a:ext cx="7223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The findings are the result of a documented process another researcher could replicate using the same criteria on the same corpus.</a:t>
            </a:r>
            <a:endParaRPr b="0" i="0" sz="1250" u="none" cap="none" strike="noStrike">
              <a:solidFill>
                <a:schemeClr val="dk1"/>
              </a:solidFill>
              <a:latin typeface="Calibri"/>
              <a:ea typeface="Calibri"/>
              <a:cs typeface="Calibri"/>
              <a:sym typeface="Calibri"/>
            </a:endParaRPr>
          </a:p>
        </p:txBody>
      </p:sp>
      <p:sp>
        <p:nvSpPr>
          <p:cNvPr id="85" name="Google Shape;85;p5"/>
          <p:cNvSpPr/>
          <p:nvPr/>
        </p:nvSpPr>
        <p:spPr>
          <a:xfrm>
            <a:off x="502920" y="475488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50"/>
              <a:buFont typeface="Calibri"/>
              <a:buNone/>
            </a:pPr>
            <a:r>
              <a:rPr b="0" i="1" lang="en-US" sz="1050" u="none" cap="none" strike="noStrike">
                <a:solidFill>
                  <a:srgbClr val="6B7280"/>
                </a:solidFill>
                <a:latin typeface="Calibri"/>
                <a:ea typeface="Calibri"/>
                <a:cs typeface="Calibri"/>
                <a:sym typeface="Calibri"/>
              </a:rPr>
              <a:t>Grounded in Krippendorff (2004)  ·  Coding categories drawn from Redish (2014)  ·  Full data record in analysis spreadsheet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 name="Shape 90"/>
        <p:cNvGrpSpPr/>
        <p:nvPr/>
      </p:nvGrpSpPr>
      <p:grpSpPr>
        <a:xfrm>
          <a:off x="0" y="0"/>
          <a:ext cx="0" cy="0"/>
          <a:chOff x="0" y="0"/>
          <a:chExt cx="0" cy="0"/>
        </a:xfrm>
      </p:grpSpPr>
      <p:sp>
        <p:nvSpPr>
          <p:cNvPr id="91" name="Google Shape;91;p6"/>
          <p:cNvSpPr/>
          <p:nvPr/>
        </p:nvSpPr>
        <p:spPr>
          <a:xfrm>
            <a:off x="502920" y="32004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200"/>
              <a:buFont typeface="Trebuchet MS"/>
              <a:buNone/>
            </a:pPr>
            <a:r>
              <a:rPr b="1" i="0" lang="en-US" sz="2200" u="none" cap="none" strike="noStrike">
                <a:solidFill>
                  <a:srgbClr val="1A1A2E"/>
                </a:solidFill>
                <a:latin typeface="Trebuchet MS"/>
                <a:ea typeface="Trebuchet MS"/>
                <a:cs typeface="Trebuchet MS"/>
                <a:sym typeface="Trebuchet MS"/>
              </a:rPr>
              <a:t>Methodology</a:t>
            </a:r>
            <a:endParaRPr b="0" i="0" sz="2200" u="none" cap="none" strike="noStrike">
              <a:solidFill>
                <a:schemeClr val="dk1"/>
              </a:solidFill>
              <a:latin typeface="Calibri"/>
              <a:ea typeface="Calibri"/>
              <a:cs typeface="Calibri"/>
              <a:sym typeface="Calibri"/>
            </a:endParaRPr>
          </a:p>
        </p:txBody>
      </p:sp>
      <p:cxnSp>
        <p:nvCxnSpPr>
          <p:cNvPr id="92" name="Google Shape;92;p6"/>
          <p:cNvCxnSpPr/>
          <p:nvPr/>
        </p:nvCxnSpPr>
        <p:spPr>
          <a:xfrm>
            <a:off x="502920" y="868680"/>
            <a:ext cx="8138160" cy="0"/>
          </a:xfrm>
          <a:prstGeom prst="straightConnector1">
            <a:avLst/>
          </a:prstGeom>
          <a:noFill/>
          <a:ln cap="flat" cmpd="sng" w="25400">
            <a:solidFill>
              <a:srgbClr val="1D6FA4"/>
            </a:solidFill>
            <a:prstDash val="solid"/>
            <a:round/>
            <a:headEnd len="sm" w="sm" type="none"/>
            <a:tailEnd len="sm" w="sm" type="none"/>
          </a:ln>
        </p:spPr>
      </p:cxnSp>
      <p:sp>
        <p:nvSpPr>
          <p:cNvPr id="93" name="Google Shape;93;p6"/>
          <p:cNvSpPr/>
          <p:nvPr/>
        </p:nvSpPr>
        <p:spPr>
          <a:xfrm>
            <a:off x="502920" y="98755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0" lang="en-US" sz="1300" u="none" cap="none" strike="noStrike">
                <a:solidFill>
                  <a:srgbClr val="6B7280"/>
                </a:solidFill>
                <a:latin typeface="Calibri"/>
                <a:ea typeface="Calibri"/>
                <a:cs typeface="Calibri"/>
                <a:sym typeface="Calibri"/>
              </a:rPr>
              <a:t>Analytical framework: Redish's three-phase model</a:t>
            </a:r>
            <a:endParaRPr b="0" i="0" sz="1300" u="none" cap="none" strike="noStrike">
              <a:solidFill>
                <a:schemeClr val="dk1"/>
              </a:solidFill>
              <a:latin typeface="Calibri"/>
              <a:ea typeface="Calibri"/>
              <a:cs typeface="Calibri"/>
              <a:sym typeface="Calibri"/>
            </a:endParaRPr>
          </a:p>
        </p:txBody>
      </p:sp>
      <p:sp>
        <p:nvSpPr>
          <p:cNvPr id="94" name="Google Shape;94;p6"/>
          <p:cNvSpPr/>
          <p:nvPr/>
        </p:nvSpPr>
        <p:spPr>
          <a:xfrm>
            <a:off x="502920" y="1463040"/>
            <a:ext cx="777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D5DB"/>
              </a:buClr>
              <a:buSzPts val="3600"/>
              <a:buFont typeface="Trebuchet MS"/>
              <a:buNone/>
            </a:pPr>
            <a:r>
              <a:rPr b="1" i="0" lang="en-US" sz="3600" u="none" cap="none" strike="noStrike">
                <a:solidFill>
                  <a:srgbClr val="D1D5DB"/>
                </a:solidFill>
                <a:latin typeface="Trebuchet MS"/>
                <a:ea typeface="Trebuchet MS"/>
                <a:cs typeface="Trebuchet MS"/>
                <a:sym typeface="Trebuchet MS"/>
              </a:rPr>
              <a:t>01</a:t>
            </a:r>
            <a:endParaRPr b="0" i="0" sz="3600" u="none" cap="none" strike="noStrike">
              <a:solidFill>
                <a:schemeClr val="dk1"/>
              </a:solidFill>
              <a:latin typeface="Calibri"/>
              <a:ea typeface="Calibri"/>
              <a:cs typeface="Calibri"/>
              <a:sym typeface="Calibri"/>
            </a:endParaRPr>
          </a:p>
        </p:txBody>
      </p:sp>
      <p:sp>
        <p:nvSpPr>
          <p:cNvPr id="95" name="Google Shape;95;p6"/>
          <p:cNvSpPr/>
          <p:nvPr/>
        </p:nvSpPr>
        <p:spPr>
          <a:xfrm>
            <a:off x="1371600" y="1481328"/>
            <a:ext cx="20116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500"/>
              <a:buFont typeface="Trebuchet MS"/>
              <a:buNone/>
            </a:pPr>
            <a:r>
              <a:rPr b="1" i="0" lang="en-US" sz="1500" u="none" cap="none" strike="noStrike">
                <a:solidFill>
                  <a:srgbClr val="1A1A2E"/>
                </a:solidFill>
                <a:latin typeface="Trebuchet MS"/>
                <a:ea typeface="Trebuchet MS"/>
                <a:cs typeface="Trebuchet MS"/>
                <a:sym typeface="Trebuchet MS"/>
              </a:rPr>
              <a:t>Findability</a:t>
            </a:r>
            <a:endParaRPr b="0" i="0" sz="1500" u="none" cap="none" strike="noStrike">
              <a:solidFill>
                <a:schemeClr val="dk1"/>
              </a:solidFill>
              <a:latin typeface="Calibri"/>
              <a:ea typeface="Calibri"/>
              <a:cs typeface="Calibri"/>
              <a:sym typeface="Calibri"/>
            </a:endParaRPr>
          </a:p>
        </p:txBody>
      </p:sp>
      <p:sp>
        <p:nvSpPr>
          <p:cNvPr id="96" name="Google Shape;96;p6"/>
          <p:cNvSpPr/>
          <p:nvPr/>
        </p:nvSpPr>
        <p:spPr>
          <a:xfrm>
            <a:off x="1371600" y="1828800"/>
            <a:ext cx="7223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Can users locate the document? Do searches surface accurate results, or do they return silence, noise, or misinformation?</a:t>
            </a:r>
            <a:endParaRPr b="0" i="0" sz="1250" u="none" cap="none" strike="noStrike">
              <a:solidFill>
                <a:schemeClr val="dk1"/>
              </a:solidFill>
              <a:latin typeface="Calibri"/>
              <a:ea typeface="Calibri"/>
              <a:cs typeface="Calibri"/>
              <a:sym typeface="Calibri"/>
            </a:endParaRPr>
          </a:p>
        </p:txBody>
      </p:sp>
      <p:cxnSp>
        <p:nvCxnSpPr>
          <p:cNvPr id="97" name="Google Shape;97;p6"/>
          <p:cNvCxnSpPr/>
          <p:nvPr/>
        </p:nvCxnSpPr>
        <p:spPr>
          <a:xfrm>
            <a:off x="1371600" y="2468880"/>
            <a:ext cx="7223760" cy="0"/>
          </a:xfrm>
          <a:prstGeom prst="straightConnector1">
            <a:avLst/>
          </a:prstGeom>
          <a:noFill/>
          <a:ln cap="flat" cmpd="sng" w="9525">
            <a:solidFill>
              <a:srgbClr val="D1D5DB"/>
            </a:solidFill>
            <a:prstDash val="solid"/>
            <a:round/>
            <a:headEnd len="sm" w="sm" type="none"/>
            <a:tailEnd len="sm" w="sm" type="none"/>
          </a:ln>
        </p:spPr>
      </p:cxnSp>
      <p:sp>
        <p:nvSpPr>
          <p:cNvPr id="98" name="Google Shape;98;p6"/>
          <p:cNvSpPr/>
          <p:nvPr/>
        </p:nvSpPr>
        <p:spPr>
          <a:xfrm>
            <a:off x="502920" y="2606040"/>
            <a:ext cx="777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D5DB"/>
              </a:buClr>
              <a:buSzPts val="3600"/>
              <a:buFont typeface="Trebuchet MS"/>
              <a:buNone/>
            </a:pPr>
            <a:r>
              <a:rPr b="1" i="0" lang="en-US" sz="3600" u="none" cap="none" strike="noStrike">
                <a:solidFill>
                  <a:srgbClr val="D1D5DB"/>
                </a:solidFill>
                <a:latin typeface="Trebuchet MS"/>
                <a:ea typeface="Trebuchet MS"/>
                <a:cs typeface="Trebuchet MS"/>
                <a:sym typeface="Trebuchet MS"/>
              </a:rPr>
              <a:t>02</a:t>
            </a:r>
            <a:endParaRPr b="0" i="0" sz="3600" u="none" cap="none" strike="noStrike">
              <a:solidFill>
                <a:schemeClr val="dk1"/>
              </a:solidFill>
              <a:latin typeface="Calibri"/>
              <a:ea typeface="Calibri"/>
              <a:cs typeface="Calibri"/>
              <a:sym typeface="Calibri"/>
            </a:endParaRPr>
          </a:p>
        </p:txBody>
      </p:sp>
      <p:sp>
        <p:nvSpPr>
          <p:cNvPr id="99" name="Google Shape;99;p6"/>
          <p:cNvSpPr/>
          <p:nvPr/>
        </p:nvSpPr>
        <p:spPr>
          <a:xfrm>
            <a:off x="1371600" y="2624328"/>
            <a:ext cx="20116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500"/>
              <a:buFont typeface="Trebuchet MS"/>
              <a:buNone/>
            </a:pPr>
            <a:r>
              <a:rPr b="1" i="0" lang="en-US" sz="1500" u="none" cap="none" strike="noStrike">
                <a:solidFill>
                  <a:srgbClr val="1A1A2E"/>
                </a:solidFill>
                <a:latin typeface="Trebuchet MS"/>
                <a:ea typeface="Trebuchet MS"/>
                <a:cs typeface="Trebuchet MS"/>
                <a:sym typeface="Trebuchet MS"/>
              </a:rPr>
              <a:t>Comprehensibility</a:t>
            </a:r>
            <a:endParaRPr b="0" i="0" sz="1500" u="none" cap="none" strike="noStrike">
              <a:solidFill>
                <a:schemeClr val="dk1"/>
              </a:solidFill>
              <a:latin typeface="Calibri"/>
              <a:ea typeface="Calibri"/>
              <a:cs typeface="Calibri"/>
              <a:sym typeface="Calibri"/>
            </a:endParaRPr>
          </a:p>
        </p:txBody>
      </p:sp>
      <p:sp>
        <p:nvSpPr>
          <p:cNvPr id="100" name="Google Shape;100;p6"/>
          <p:cNvSpPr/>
          <p:nvPr/>
        </p:nvSpPr>
        <p:spPr>
          <a:xfrm>
            <a:off x="1371600" y="2971800"/>
            <a:ext cx="7223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Once found, can users understand it? Is language plain and accessible to a general audience?</a:t>
            </a:r>
            <a:endParaRPr b="0" i="0" sz="1250" u="none" cap="none" strike="noStrike">
              <a:solidFill>
                <a:schemeClr val="dk1"/>
              </a:solidFill>
              <a:latin typeface="Calibri"/>
              <a:ea typeface="Calibri"/>
              <a:cs typeface="Calibri"/>
              <a:sym typeface="Calibri"/>
            </a:endParaRPr>
          </a:p>
        </p:txBody>
      </p:sp>
      <p:cxnSp>
        <p:nvCxnSpPr>
          <p:cNvPr id="101" name="Google Shape;101;p6"/>
          <p:cNvCxnSpPr/>
          <p:nvPr/>
        </p:nvCxnSpPr>
        <p:spPr>
          <a:xfrm>
            <a:off x="1371600" y="3611880"/>
            <a:ext cx="7223760" cy="0"/>
          </a:xfrm>
          <a:prstGeom prst="straightConnector1">
            <a:avLst/>
          </a:prstGeom>
          <a:noFill/>
          <a:ln cap="flat" cmpd="sng" w="9525">
            <a:solidFill>
              <a:srgbClr val="D1D5DB"/>
            </a:solidFill>
            <a:prstDash val="solid"/>
            <a:round/>
            <a:headEnd len="sm" w="sm" type="none"/>
            <a:tailEnd len="sm" w="sm" type="none"/>
          </a:ln>
        </p:spPr>
      </p:cxnSp>
      <p:sp>
        <p:nvSpPr>
          <p:cNvPr id="102" name="Google Shape;102;p6"/>
          <p:cNvSpPr/>
          <p:nvPr/>
        </p:nvSpPr>
        <p:spPr>
          <a:xfrm>
            <a:off x="502920" y="3749040"/>
            <a:ext cx="777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D5DB"/>
              </a:buClr>
              <a:buSzPts val="3600"/>
              <a:buFont typeface="Trebuchet MS"/>
              <a:buNone/>
            </a:pPr>
            <a:r>
              <a:rPr b="1" i="0" lang="en-US" sz="3600" u="none" cap="none" strike="noStrike">
                <a:solidFill>
                  <a:srgbClr val="D1D5DB"/>
                </a:solidFill>
                <a:latin typeface="Trebuchet MS"/>
                <a:ea typeface="Trebuchet MS"/>
                <a:cs typeface="Trebuchet MS"/>
                <a:sym typeface="Trebuchet MS"/>
              </a:rPr>
              <a:t>03</a:t>
            </a:r>
            <a:endParaRPr b="0" i="0" sz="3600" u="none" cap="none" strike="noStrike">
              <a:solidFill>
                <a:schemeClr val="dk1"/>
              </a:solidFill>
              <a:latin typeface="Calibri"/>
              <a:ea typeface="Calibri"/>
              <a:cs typeface="Calibri"/>
              <a:sym typeface="Calibri"/>
            </a:endParaRPr>
          </a:p>
        </p:txBody>
      </p:sp>
      <p:sp>
        <p:nvSpPr>
          <p:cNvPr id="103" name="Google Shape;103;p6"/>
          <p:cNvSpPr/>
          <p:nvPr/>
        </p:nvSpPr>
        <p:spPr>
          <a:xfrm>
            <a:off x="1371600" y="3767328"/>
            <a:ext cx="20116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500"/>
              <a:buFont typeface="Trebuchet MS"/>
              <a:buNone/>
            </a:pPr>
            <a:r>
              <a:rPr b="1" i="0" lang="en-US" sz="1500" u="none" cap="none" strike="noStrike">
                <a:solidFill>
                  <a:srgbClr val="1A1A2E"/>
                </a:solidFill>
                <a:latin typeface="Trebuchet MS"/>
                <a:ea typeface="Trebuchet MS"/>
                <a:cs typeface="Trebuchet MS"/>
                <a:sym typeface="Trebuchet MS"/>
              </a:rPr>
              <a:t>Usability</a:t>
            </a:r>
            <a:endParaRPr b="0" i="0" sz="1500" u="none" cap="none" strike="noStrike">
              <a:solidFill>
                <a:schemeClr val="dk1"/>
              </a:solidFill>
              <a:latin typeface="Calibri"/>
              <a:ea typeface="Calibri"/>
              <a:cs typeface="Calibri"/>
              <a:sym typeface="Calibri"/>
            </a:endParaRPr>
          </a:p>
        </p:txBody>
      </p:sp>
      <p:sp>
        <p:nvSpPr>
          <p:cNvPr id="104" name="Google Shape;104;p6"/>
          <p:cNvSpPr/>
          <p:nvPr/>
        </p:nvSpPr>
        <p:spPr>
          <a:xfrm>
            <a:off x="1371600" y="4114800"/>
            <a:ext cx="7223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Does the document support action? Can a member of the public use it to make decisions or hold an agency accountable?</a:t>
            </a:r>
            <a:endParaRPr b="0" i="0" sz="1250" u="none" cap="none" strike="noStrike">
              <a:solidFill>
                <a:schemeClr val="dk1"/>
              </a:solidFill>
              <a:latin typeface="Calibri"/>
              <a:ea typeface="Calibri"/>
              <a:cs typeface="Calibri"/>
              <a:sym typeface="Calibri"/>
            </a:endParaRPr>
          </a:p>
        </p:txBody>
      </p:sp>
      <p:sp>
        <p:nvSpPr>
          <p:cNvPr id="105" name="Google Shape;105;p6"/>
          <p:cNvSpPr/>
          <p:nvPr/>
        </p:nvSpPr>
        <p:spPr>
          <a:xfrm>
            <a:off x="502920" y="475488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50"/>
              <a:buFont typeface="Calibri"/>
              <a:buNone/>
            </a:pPr>
            <a:r>
              <a:rPr b="0" i="1" lang="en-US" sz="1050" u="none" cap="none" strike="noStrike">
                <a:solidFill>
                  <a:srgbClr val="6B7280"/>
                </a:solidFill>
                <a:latin typeface="Calibri"/>
                <a:ea typeface="Calibri"/>
                <a:cs typeface="Calibri"/>
                <a:sym typeface="Calibri"/>
              </a:rPr>
              <a:t>Comparative case design  ·  Single-researcher coding  ·  Documented ClickPath research</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7"/>
          <p:cNvSpPr/>
          <p:nvPr/>
        </p:nvSpPr>
        <p:spPr>
          <a:xfrm>
            <a:off x="502920" y="32004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200"/>
              <a:buFont typeface="Trebuchet MS"/>
              <a:buNone/>
            </a:pPr>
            <a:r>
              <a:rPr b="1" i="0" lang="en-US" sz="2200" u="none" cap="none" strike="noStrike">
                <a:solidFill>
                  <a:srgbClr val="1A1A2E"/>
                </a:solidFill>
                <a:latin typeface="Trebuchet MS"/>
                <a:ea typeface="Trebuchet MS"/>
                <a:cs typeface="Trebuchet MS"/>
                <a:sym typeface="Trebuchet MS"/>
              </a:rPr>
              <a:t>Methodology: What I Looked At and How</a:t>
            </a:r>
            <a:endParaRPr b="0" i="0" sz="2200" u="none" cap="none" strike="noStrike">
              <a:solidFill>
                <a:schemeClr val="dk1"/>
              </a:solidFill>
              <a:latin typeface="Calibri"/>
              <a:ea typeface="Calibri"/>
              <a:cs typeface="Calibri"/>
              <a:sym typeface="Calibri"/>
            </a:endParaRPr>
          </a:p>
        </p:txBody>
      </p:sp>
      <p:cxnSp>
        <p:nvCxnSpPr>
          <p:cNvPr id="111" name="Google Shape;111;p7"/>
          <p:cNvCxnSpPr/>
          <p:nvPr/>
        </p:nvCxnSpPr>
        <p:spPr>
          <a:xfrm>
            <a:off x="502920" y="868680"/>
            <a:ext cx="8138160" cy="0"/>
          </a:xfrm>
          <a:prstGeom prst="straightConnector1">
            <a:avLst/>
          </a:prstGeom>
          <a:noFill/>
          <a:ln cap="flat" cmpd="sng" w="25400">
            <a:solidFill>
              <a:srgbClr val="1D6FA4"/>
            </a:solidFill>
            <a:prstDash val="solid"/>
            <a:round/>
            <a:headEnd len="sm" w="sm" type="none"/>
            <a:tailEnd len="sm" w="sm" type="none"/>
          </a:ln>
        </p:spPr>
      </p:cxnSp>
      <p:sp>
        <p:nvSpPr>
          <p:cNvPr id="112" name="Google Shape;112;p7"/>
          <p:cNvSpPr/>
          <p:nvPr/>
        </p:nvSpPr>
        <p:spPr>
          <a:xfrm>
            <a:off x="502920" y="98755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0" lang="en-US" sz="1300" u="none" cap="none" strike="noStrike">
                <a:solidFill>
                  <a:srgbClr val="6B7280"/>
                </a:solidFill>
                <a:latin typeface="Calibri"/>
                <a:ea typeface="Calibri"/>
                <a:cs typeface="Calibri"/>
                <a:sym typeface="Calibri"/>
              </a:rPr>
              <a:t>Corpus: 11 documents across 3 jurisdictions  ·  Criteria applied consistently before coding began</a:t>
            </a:r>
            <a:endParaRPr b="0" i="0" sz="1300" u="none" cap="none" strike="noStrike">
              <a:solidFill>
                <a:schemeClr val="dk1"/>
              </a:solidFill>
              <a:latin typeface="Calibri"/>
              <a:ea typeface="Calibri"/>
              <a:cs typeface="Calibri"/>
              <a:sym typeface="Calibri"/>
            </a:endParaRPr>
          </a:p>
        </p:txBody>
      </p:sp>
      <p:sp>
        <p:nvSpPr>
          <p:cNvPr id="113" name="Google Shape;113;p7"/>
          <p:cNvSpPr/>
          <p:nvPr/>
        </p:nvSpPr>
        <p:spPr>
          <a:xfrm>
            <a:off x="502920" y="1463040"/>
            <a:ext cx="777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D5DB"/>
              </a:buClr>
              <a:buSzPts val="3600"/>
              <a:buFont typeface="Trebuchet MS"/>
              <a:buNone/>
            </a:pPr>
            <a:r>
              <a:rPr b="1" i="0" lang="en-US" sz="3600" u="none" cap="none" strike="noStrike">
                <a:solidFill>
                  <a:srgbClr val="D1D5DB"/>
                </a:solidFill>
                <a:latin typeface="Trebuchet MS"/>
                <a:ea typeface="Trebuchet MS"/>
                <a:cs typeface="Trebuchet MS"/>
                <a:sym typeface="Trebuchet MS"/>
              </a:rPr>
              <a:t>01</a:t>
            </a:r>
            <a:endParaRPr b="0" i="0" sz="3600" u="none" cap="none" strike="noStrike">
              <a:solidFill>
                <a:schemeClr val="dk1"/>
              </a:solidFill>
              <a:latin typeface="Calibri"/>
              <a:ea typeface="Calibri"/>
              <a:cs typeface="Calibri"/>
              <a:sym typeface="Calibri"/>
            </a:endParaRPr>
          </a:p>
        </p:txBody>
      </p:sp>
      <p:sp>
        <p:nvSpPr>
          <p:cNvPr id="114" name="Google Shape;114;p7"/>
          <p:cNvSpPr/>
          <p:nvPr/>
        </p:nvSpPr>
        <p:spPr>
          <a:xfrm>
            <a:off x="1371600" y="1481328"/>
            <a:ext cx="20116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500"/>
              <a:buFont typeface="Trebuchet MS"/>
              <a:buNone/>
            </a:pPr>
            <a:r>
              <a:rPr b="1" i="0" lang="en-US" sz="1500" u="none" cap="none" strike="noStrike">
                <a:solidFill>
                  <a:srgbClr val="1A1A2E"/>
                </a:solidFill>
                <a:latin typeface="Trebuchet MS"/>
                <a:ea typeface="Trebuchet MS"/>
                <a:cs typeface="Trebuchet MS"/>
                <a:sym typeface="Trebuchet MS"/>
              </a:rPr>
              <a:t>Phase 1: Findability</a:t>
            </a:r>
            <a:endParaRPr b="0" i="0" sz="1500" u="none" cap="none" strike="noStrike">
              <a:solidFill>
                <a:schemeClr val="dk1"/>
              </a:solidFill>
              <a:latin typeface="Calibri"/>
              <a:ea typeface="Calibri"/>
              <a:cs typeface="Calibri"/>
              <a:sym typeface="Calibri"/>
            </a:endParaRPr>
          </a:p>
        </p:txBody>
      </p:sp>
      <p:sp>
        <p:nvSpPr>
          <p:cNvPr id="115" name="Google Shape;115;p7"/>
          <p:cNvSpPr/>
          <p:nvPr/>
        </p:nvSpPr>
        <p:spPr>
          <a:xfrm>
            <a:off x="1371600" y="1828800"/>
            <a:ext cx="7223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Is there a dedicated disclosure page? Does a site search using terms like “facial recognition,” “surveillance,” “Clearview,” or “AI” return relevant results? How many clicks from the homepage to reach any disclosure?</a:t>
            </a:r>
            <a:endParaRPr b="0" i="0" sz="1250" u="none" cap="none" strike="noStrike">
              <a:solidFill>
                <a:schemeClr val="dk1"/>
              </a:solidFill>
              <a:latin typeface="Calibri"/>
              <a:ea typeface="Calibri"/>
              <a:cs typeface="Calibri"/>
              <a:sym typeface="Calibri"/>
            </a:endParaRPr>
          </a:p>
        </p:txBody>
      </p:sp>
      <p:cxnSp>
        <p:nvCxnSpPr>
          <p:cNvPr id="116" name="Google Shape;116;p7"/>
          <p:cNvCxnSpPr/>
          <p:nvPr/>
        </p:nvCxnSpPr>
        <p:spPr>
          <a:xfrm>
            <a:off x="1371600" y="2468880"/>
            <a:ext cx="7223760" cy="0"/>
          </a:xfrm>
          <a:prstGeom prst="straightConnector1">
            <a:avLst/>
          </a:prstGeom>
          <a:noFill/>
          <a:ln cap="flat" cmpd="sng" w="9525">
            <a:solidFill>
              <a:srgbClr val="D1D5DB"/>
            </a:solidFill>
            <a:prstDash val="solid"/>
            <a:round/>
            <a:headEnd len="sm" w="sm" type="none"/>
            <a:tailEnd len="sm" w="sm" type="none"/>
          </a:ln>
        </p:spPr>
      </p:cxnSp>
      <p:sp>
        <p:nvSpPr>
          <p:cNvPr id="117" name="Google Shape;117;p7"/>
          <p:cNvSpPr/>
          <p:nvPr/>
        </p:nvSpPr>
        <p:spPr>
          <a:xfrm>
            <a:off x="502920" y="2606040"/>
            <a:ext cx="777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D5DB"/>
              </a:buClr>
              <a:buSzPts val="3600"/>
              <a:buFont typeface="Trebuchet MS"/>
              <a:buNone/>
            </a:pPr>
            <a:r>
              <a:rPr b="1" i="0" lang="en-US" sz="3600" u="none" cap="none" strike="noStrike">
                <a:solidFill>
                  <a:srgbClr val="D1D5DB"/>
                </a:solidFill>
                <a:latin typeface="Trebuchet MS"/>
                <a:ea typeface="Trebuchet MS"/>
                <a:cs typeface="Trebuchet MS"/>
                <a:sym typeface="Trebuchet MS"/>
              </a:rPr>
              <a:t>02</a:t>
            </a:r>
            <a:endParaRPr b="0" i="0" sz="3600" u="none" cap="none" strike="noStrike">
              <a:solidFill>
                <a:schemeClr val="dk1"/>
              </a:solidFill>
              <a:latin typeface="Calibri"/>
              <a:ea typeface="Calibri"/>
              <a:cs typeface="Calibri"/>
              <a:sym typeface="Calibri"/>
            </a:endParaRPr>
          </a:p>
        </p:txBody>
      </p:sp>
      <p:sp>
        <p:nvSpPr>
          <p:cNvPr id="118" name="Google Shape;118;p7"/>
          <p:cNvSpPr/>
          <p:nvPr/>
        </p:nvSpPr>
        <p:spPr>
          <a:xfrm>
            <a:off x="1371600" y="2624328"/>
            <a:ext cx="20116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500"/>
              <a:buFont typeface="Trebuchet MS"/>
              <a:buNone/>
            </a:pPr>
            <a:r>
              <a:rPr b="1" i="0" lang="en-US" sz="1500" u="none" cap="none" strike="noStrike">
                <a:solidFill>
                  <a:srgbClr val="1A1A2E"/>
                </a:solidFill>
                <a:latin typeface="Trebuchet MS"/>
                <a:ea typeface="Trebuchet MS"/>
                <a:cs typeface="Trebuchet MS"/>
                <a:sym typeface="Trebuchet MS"/>
              </a:rPr>
              <a:t>Phase 2: Comprehensibility</a:t>
            </a:r>
            <a:endParaRPr b="0" i="0" sz="1500" u="none" cap="none" strike="noStrike">
              <a:solidFill>
                <a:schemeClr val="dk1"/>
              </a:solidFill>
              <a:latin typeface="Calibri"/>
              <a:ea typeface="Calibri"/>
              <a:cs typeface="Calibri"/>
              <a:sym typeface="Calibri"/>
            </a:endParaRPr>
          </a:p>
        </p:txBody>
      </p:sp>
      <p:sp>
        <p:nvSpPr>
          <p:cNvPr id="119" name="Google Shape;119;p7"/>
          <p:cNvSpPr/>
          <p:nvPr/>
        </p:nvSpPr>
        <p:spPr>
          <a:xfrm>
            <a:off x="1371600" y="2971800"/>
            <a:ext cx="7223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Are technical terms defined? Is plain language used? Are AI limitations explained? Are there visual aids? Rated Yes / Partial / No per criterion, High / Med / Low overall.</a:t>
            </a:r>
            <a:endParaRPr b="0" i="0" sz="1250" u="none" cap="none" strike="noStrike">
              <a:solidFill>
                <a:schemeClr val="dk1"/>
              </a:solidFill>
              <a:latin typeface="Calibri"/>
              <a:ea typeface="Calibri"/>
              <a:cs typeface="Calibri"/>
              <a:sym typeface="Calibri"/>
            </a:endParaRPr>
          </a:p>
        </p:txBody>
      </p:sp>
      <p:cxnSp>
        <p:nvCxnSpPr>
          <p:cNvPr id="120" name="Google Shape;120;p7"/>
          <p:cNvCxnSpPr/>
          <p:nvPr/>
        </p:nvCxnSpPr>
        <p:spPr>
          <a:xfrm>
            <a:off x="1371600" y="3611880"/>
            <a:ext cx="7223760" cy="0"/>
          </a:xfrm>
          <a:prstGeom prst="straightConnector1">
            <a:avLst/>
          </a:prstGeom>
          <a:noFill/>
          <a:ln cap="flat" cmpd="sng" w="9525">
            <a:solidFill>
              <a:srgbClr val="D1D5DB"/>
            </a:solidFill>
            <a:prstDash val="solid"/>
            <a:round/>
            <a:headEnd len="sm" w="sm" type="none"/>
            <a:tailEnd len="sm" w="sm" type="none"/>
          </a:ln>
        </p:spPr>
      </p:cxnSp>
      <p:sp>
        <p:nvSpPr>
          <p:cNvPr id="121" name="Google Shape;121;p7"/>
          <p:cNvSpPr/>
          <p:nvPr/>
        </p:nvSpPr>
        <p:spPr>
          <a:xfrm>
            <a:off x="502920" y="3749040"/>
            <a:ext cx="777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D5DB"/>
              </a:buClr>
              <a:buSzPts val="3600"/>
              <a:buFont typeface="Trebuchet MS"/>
              <a:buNone/>
            </a:pPr>
            <a:r>
              <a:rPr b="1" i="0" lang="en-US" sz="3600" u="none" cap="none" strike="noStrike">
                <a:solidFill>
                  <a:srgbClr val="D1D5DB"/>
                </a:solidFill>
                <a:latin typeface="Trebuchet MS"/>
                <a:ea typeface="Trebuchet MS"/>
                <a:cs typeface="Trebuchet MS"/>
                <a:sym typeface="Trebuchet MS"/>
              </a:rPr>
              <a:t>03</a:t>
            </a:r>
            <a:endParaRPr b="0" i="0" sz="3600" u="none" cap="none" strike="noStrike">
              <a:solidFill>
                <a:schemeClr val="dk1"/>
              </a:solidFill>
              <a:latin typeface="Calibri"/>
              <a:ea typeface="Calibri"/>
              <a:cs typeface="Calibri"/>
              <a:sym typeface="Calibri"/>
            </a:endParaRPr>
          </a:p>
        </p:txBody>
      </p:sp>
      <p:sp>
        <p:nvSpPr>
          <p:cNvPr id="122" name="Google Shape;122;p7"/>
          <p:cNvSpPr/>
          <p:nvPr/>
        </p:nvSpPr>
        <p:spPr>
          <a:xfrm>
            <a:off x="1371600" y="3767328"/>
            <a:ext cx="20116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500"/>
              <a:buFont typeface="Trebuchet MS"/>
              <a:buNone/>
            </a:pPr>
            <a:r>
              <a:rPr b="1" i="0" lang="en-US" sz="1500" u="none" cap="none" strike="noStrike">
                <a:solidFill>
                  <a:srgbClr val="1A1A2E"/>
                </a:solidFill>
                <a:latin typeface="Trebuchet MS"/>
                <a:ea typeface="Trebuchet MS"/>
                <a:cs typeface="Trebuchet MS"/>
                <a:sym typeface="Trebuchet MS"/>
              </a:rPr>
              <a:t>Phase 3: Usability</a:t>
            </a:r>
            <a:endParaRPr b="0" i="0" sz="1500" u="none" cap="none" strike="noStrike">
              <a:solidFill>
                <a:schemeClr val="dk1"/>
              </a:solidFill>
              <a:latin typeface="Calibri"/>
              <a:ea typeface="Calibri"/>
              <a:cs typeface="Calibri"/>
              <a:sym typeface="Calibri"/>
            </a:endParaRPr>
          </a:p>
        </p:txBody>
      </p:sp>
      <p:sp>
        <p:nvSpPr>
          <p:cNvPr id="123" name="Google Shape;123;p7"/>
          <p:cNvSpPr/>
          <p:nvPr/>
        </p:nvSpPr>
        <p:spPr>
          <a:xfrm>
            <a:off x="1371600" y="4114800"/>
            <a:ext cx="7223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Is contact information provided? Is there a complaint or feedback process? Is public comment available? Where no document was found, Phases 2 and 3 are recorded N/A — absence of a document is itself the finding.</a:t>
            </a:r>
            <a:endParaRPr b="0" i="0" sz="1250" u="none" cap="none" strike="noStrike">
              <a:solidFill>
                <a:schemeClr val="dk1"/>
              </a:solidFill>
              <a:latin typeface="Calibri"/>
              <a:ea typeface="Calibri"/>
              <a:cs typeface="Calibri"/>
              <a:sym typeface="Calibri"/>
            </a:endParaRPr>
          </a:p>
        </p:txBody>
      </p:sp>
      <p:sp>
        <p:nvSpPr>
          <p:cNvPr id="124" name="Google Shape;124;p7"/>
          <p:cNvSpPr/>
          <p:nvPr/>
        </p:nvSpPr>
        <p:spPr>
          <a:xfrm>
            <a:off x="502920" y="475488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50"/>
              <a:buFont typeface="Calibri"/>
              <a:buNone/>
            </a:pPr>
            <a:r>
              <a:rPr b="0" i="1" lang="en-US" sz="1050" u="none" cap="none" strike="noStrike">
                <a:solidFill>
                  <a:srgbClr val="6B7280"/>
                </a:solidFill>
                <a:latin typeface="Calibri"/>
                <a:ea typeface="Calibri"/>
                <a:cs typeface="Calibri"/>
                <a:sym typeface="Calibri"/>
              </a:rPr>
              <a:t>11 primary documents analyzed  ·  Raleigh / Charlotte / Durham / Seattle / Oakland  ·  All criteria set before coding began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8"/>
          <p:cNvSpPr/>
          <p:nvPr/>
        </p:nvSpPr>
        <p:spPr>
          <a:xfrm>
            <a:off x="502920" y="32004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200"/>
              <a:buFont typeface="Trebuchet MS"/>
              <a:buNone/>
            </a:pPr>
            <a:r>
              <a:rPr b="1" i="0" lang="en-US" sz="2200" u="none" cap="none" strike="noStrike">
                <a:solidFill>
                  <a:srgbClr val="1A1A2E"/>
                </a:solidFill>
                <a:latin typeface="Trebuchet MS"/>
                <a:ea typeface="Trebuchet MS"/>
                <a:cs typeface="Trebuchet MS"/>
                <a:sym typeface="Trebuchet MS"/>
              </a:rPr>
              <a:t>Academic Basis for the Scoring System</a:t>
            </a:r>
            <a:endParaRPr b="0" i="0" sz="2200" u="none" cap="none" strike="noStrike">
              <a:solidFill>
                <a:schemeClr val="dk1"/>
              </a:solidFill>
              <a:latin typeface="Calibri"/>
              <a:ea typeface="Calibri"/>
              <a:cs typeface="Calibri"/>
              <a:sym typeface="Calibri"/>
            </a:endParaRPr>
          </a:p>
        </p:txBody>
      </p:sp>
      <p:cxnSp>
        <p:nvCxnSpPr>
          <p:cNvPr id="130" name="Google Shape;130;p8"/>
          <p:cNvCxnSpPr/>
          <p:nvPr/>
        </p:nvCxnSpPr>
        <p:spPr>
          <a:xfrm>
            <a:off x="502920" y="868680"/>
            <a:ext cx="8138160" cy="0"/>
          </a:xfrm>
          <a:prstGeom prst="straightConnector1">
            <a:avLst/>
          </a:prstGeom>
          <a:noFill/>
          <a:ln cap="flat" cmpd="sng" w="25400">
            <a:solidFill>
              <a:srgbClr val="1D6FA4"/>
            </a:solidFill>
            <a:prstDash val="solid"/>
            <a:round/>
            <a:headEnd len="sm" w="sm" type="none"/>
            <a:tailEnd len="sm" w="sm" type="none"/>
          </a:ln>
        </p:spPr>
      </p:cxnSp>
      <p:sp>
        <p:nvSpPr>
          <p:cNvPr id="131" name="Google Shape;131;p8"/>
          <p:cNvSpPr/>
          <p:nvPr/>
        </p:nvSpPr>
        <p:spPr>
          <a:xfrm>
            <a:off x="502920" y="98755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0" lang="en-US" sz="1300" u="none" cap="none" strike="noStrike">
                <a:solidFill>
                  <a:srgbClr val="6B7280"/>
                </a:solidFill>
                <a:latin typeface="Calibri"/>
                <a:ea typeface="Calibri"/>
                <a:cs typeface="Calibri"/>
                <a:sym typeface="Calibri"/>
              </a:rPr>
              <a:t>Two sources ground the criteria and the method of applying them</a:t>
            </a:r>
            <a:endParaRPr b="0" i="0" sz="1300" u="none" cap="none" strike="noStrike">
              <a:solidFill>
                <a:schemeClr val="dk1"/>
              </a:solidFill>
              <a:latin typeface="Calibri"/>
              <a:ea typeface="Calibri"/>
              <a:cs typeface="Calibri"/>
              <a:sym typeface="Calibri"/>
            </a:endParaRPr>
          </a:p>
        </p:txBody>
      </p:sp>
      <p:sp>
        <p:nvSpPr>
          <p:cNvPr id="132" name="Google Shape;132;p8"/>
          <p:cNvSpPr/>
          <p:nvPr/>
        </p:nvSpPr>
        <p:spPr>
          <a:xfrm>
            <a:off x="502920" y="1463040"/>
            <a:ext cx="777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D5DB"/>
              </a:buClr>
              <a:buSzPts val="3600"/>
              <a:buFont typeface="Trebuchet MS"/>
              <a:buNone/>
            </a:pPr>
            <a:r>
              <a:rPr b="1" i="0" lang="en-US" sz="3600" u="none" cap="none" strike="noStrike">
                <a:solidFill>
                  <a:srgbClr val="D1D5DB"/>
                </a:solidFill>
                <a:latin typeface="Trebuchet MS"/>
                <a:ea typeface="Trebuchet MS"/>
                <a:cs typeface="Trebuchet MS"/>
                <a:sym typeface="Trebuchet MS"/>
              </a:rPr>
              <a:t>01</a:t>
            </a:r>
            <a:endParaRPr b="0" i="0" sz="3600" u="none" cap="none" strike="noStrike">
              <a:solidFill>
                <a:schemeClr val="dk1"/>
              </a:solidFill>
              <a:latin typeface="Calibri"/>
              <a:ea typeface="Calibri"/>
              <a:cs typeface="Calibri"/>
              <a:sym typeface="Calibri"/>
            </a:endParaRPr>
          </a:p>
        </p:txBody>
      </p:sp>
      <p:sp>
        <p:nvSpPr>
          <p:cNvPr id="133" name="Google Shape;133;p8"/>
          <p:cNvSpPr/>
          <p:nvPr/>
        </p:nvSpPr>
        <p:spPr>
          <a:xfrm>
            <a:off x="1371600" y="1481328"/>
            <a:ext cx="20116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500"/>
              <a:buFont typeface="Trebuchet MS"/>
              <a:buNone/>
            </a:pPr>
            <a:r>
              <a:rPr b="1" i="0" lang="en-US" sz="1500" u="none" cap="none" strike="noStrike">
                <a:solidFill>
                  <a:srgbClr val="1A1A2E"/>
                </a:solidFill>
                <a:latin typeface="Trebuchet MS"/>
                <a:ea typeface="Trebuchet MS"/>
                <a:cs typeface="Trebuchet MS"/>
                <a:sym typeface="Trebuchet MS"/>
              </a:rPr>
              <a:t>Redish (2014)</a:t>
            </a:r>
            <a:endParaRPr b="0" i="0" sz="1500" u="none" cap="none" strike="noStrike">
              <a:solidFill>
                <a:schemeClr val="dk1"/>
              </a:solidFill>
              <a:latin typeface="Calibri"/>
              <a:ea typeface="Calibri"/>
              <a:cs typeface="Calibri"/>
              <a:sym typeface="Calibri"/>
            </a:endParaRPr>
          </a:p>
        </p:txBody>
      </p:sp>
      <p:sp>
        <p:nvSpPr>
          <p:cNvPr id="134" name="Google Shape;134;p8"/>
          <p:cNvSpPr/>
          <p:nvPr/>
        </p:nvSpPr>
        <p:spPr>
          <a:xfrm>
            <a:off x="1371600" y="1828800"/>
            <a:ext cx="7223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Redish's three phases and their criteria — dedicated disclosure page, plain language, contact information, public comment opportunity — were drawn from her framework before any document was examined. The criteria operationalize her questions for government AI disclosure.</a:t>
            </a:r>
            <a:endParaRPr b="0" i="0" sz="1250" u="none" cap="none" strike="noStrike">
              <a:solidFill>
                <a:schemeClr val="dk1"/>
              </a:solidFill>
              <a:latin typeface="Calibri"/>
              <a:ea typeface="Calibri"/>
              <a:cs typeface="Calibri"/>
              <a:sym typeface="Calibri"/>
            </a:endParaRPr>
          </a:p>
        </p:txBody>
      </p:sp>
      <p:cxnSp>
        <p:nvCxnSpPr>
          <p:cNvPr id="135" name="Google Shape;135;p8"/>
          <p:cNvCxnSpPr/>
          <p:nvPr/>
        </p:nvCxnSpPr>
        <p:spPr>
          <a:xfrm>
            <a:off x="1371600" y="2468880"/>
            <a:ext cx="7223760" cy="0"/>
          </a:xfrm>
          <a:prstGeom prst="straightConnector1">
            <a:avLst/>
          </a:prstGeom>
          <a:noFill/>
          <a:ln cap="flat" cmpd="sng" w="9525">
            <a:solidFill>
              <a:srgbClr val="D1D5DB"/>
            </a:solidFill>
            <a:prstDash val="solid"/>
            <a:round/>
            <a:headEnd len="sm" w="sm" type="none"/>
            <a:tailEnd len="sm" w="sm" type="none"/>
          </a:ln>
        </p:spPr>
      </p:cxnSp>
      <p:sp>
        <p:nvSpPr>
          <p:cNvPr id="136" name="Google Shape;136;p8"/>
          <p:cNvSpPr/>
          <p:nvPr/>
        </p:nvSpPr>
        <p:spPr>
          <a:xfrm>
            <a:off x="502920" y="2606040"/>
            <a:ext cx="777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D5DB"/>
              </a:buClr>
              <a:buSzPts val="3600"/>
              <a:buFont typeface="Trebuchet MS"/>
              <a:buNone/>
            </a:pPr>
            <a:r>
              <a:rPr b="1" i="0" lang="en-US" sz="3600" u="none" cap="none" strike="noStrike">
                <a:solidFill>
                  <a:srgbClr val="D1D5DB"/>
                </a:solidFill>
                <a:latin typeface="Trebuchet MS"/>
                <a:ea typeface="Trebuchet MS"/>
                <a:cs typeface="Trebuchet MS"/>
                <a:sym typeface="Trebuchet MS"/>
              </a:rPr>
              <a:t>02</a:t>
            </a:r>
            <a:endParaRPr b="0" i="0" sz="3600" u="none" cap="none" strike="noStrike">
              <a:solidFill>
                <a:schemeClr val="dk1"/>
              </a:solidFill>
              <a:latin typeface="Calibri"/>
              <a:ea typeface="Calibri"/>
              <a:cs typeface="Calibri"/>
              <a:sym typeface="Calibri"/>
            </a:endParaRPr>
          </a:p>
        </p:txBody>
      </p:sp>
      <p:sp>
        <p:nvSpPr>
          <p:cNvPr id="137" name="Google Shape;137;p8"/>
          <p:cNvSpPr/>
          <p:nvPr/>
        </p:nvSpPr>
        <p:spPr>
          <a:xfrm>
            <a:off x="1371600" y="2624328"/>
            <a:ext cx="20116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500"/>
              <a:buFont typeface="Trebuchet MS"/>
              <a:buNone/>
            </a:pPr>
            <a:r>
              <a:rPr b="1" i="0" lang="en-US" sz="1500" u="none" cap="none" strike="noStrike">
                <a:solidFill>
                  <a:srgbClr val="1A1A2E"/>
                </a:solidFill>
                <a:latin typeface="Trebuchet MS"/>
                <a:ea typeface="Trebuchet MS"/>
                <a:cs typeface="Trebuchet MS"/>
                <a:sym typeface="Trebuchet MS"/>
              </a:rPr>
              <a:t>Krippendorff (2004)</a:t>
            </a:r>
            <a:endParaRPr b="0" i="0" sz="1500" u="none" cap="none" strike="noStrike">
              <a:solidFill>
                <a:schemeClr val="dk1"/>
              </a:solidFill>
              <a:latin typeface="Calibri"/>
              <a:ea typeface="Calibri"/>
              <a:cs typeface="Calibri"/>
              <a:sym typeface="Calibri"/>
            </a:endParaRPr>
          </a:p>
        </p:txBody>
      </p:sp>
      <p:sp>
        <p:nvSpPr>
          <p:cNvPr id="138" name="Google Shape;138;p8"/>
          <p:cNvSpPr/>
          <p:nvPr/>
        </p:nvSpPr>
        <p:spPr>
          <a:xfrm>
            <a:off x="1371600" y="2971800"/>
            <a:ext cx="7223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Krippendorff's standards require criteria set before collection, applied consistently, and documented for replication. Every document has a rating and evidence recorded in the analysis spreadsheet. That spreadsheet is the methodological record.</a:t>
            </a:r>
            <a:endParaRPr b="0" i="0" sz="1250" u="none" cap="none" strike="noStrike">
              <a:solidFill>
                <a:schemeClr val="dk1"/>
              </a:solidFill>
              <a:latin typeface="Calibri"/>
              <a:ea typeface="Calibri"/>
              <a:cs typeface="Calibri"/>
              <a:sym typeface="Calibri"/>
            </a:endParaRPr>
          </a:p>
        </p:txBody>
      </p:sp>
      <p:cxnSp>
        <p:nvCxnSpPr>
          <p:cNvPr id="139" name="Google Shape;139;p8"/>
          <p:cNvCxnSpPr/>
          <p:nvPr/>
        </p:nvCxnSpPr>
        <p:spPr>
          <a:xfrm>
            <a:off x="1371600" y="3611880"/>
            <a:ext cx="7223760" cy="0"/>
          </a:xfrm>
          <a:prstGeom prst="straightConnector1">
            <a:avLst/>
          </a:prstGeom>
          <a:noFill/>
          <a:ln cap="flat" cmpd="sng" w="9525">
            <a:solidFill>
              <a:srgbClr val="D1D5DB"/>
            </a:solidFill>
            <a:prstDash val="solid"/>
            <a:round/>
            <a:headEnd len="sm" w="sm" type="none"/>
            <a:tailEnd len="sm" w="sm" type="none"/>
          </a:ln>
        </p:spPr>
      </p:cxnSp>
      <p:sp>
        <p:nvSpPr>
          <p:cNvPr id="140" name="Google Shape;140;p8"/>
          <p:cNvSpPr/>
          <p:nvPr/>
        </p:nvSpPr>
        <p:spPr>
          <a:xfrm>
            <a:off x="502920" y="3749040"/>
            <a:ext cx="777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D5DB"/>
              </a:buClr>
              <a:buSzPts val="3600"/>
              <a:buFont typeface="Trebuchet MS"/>
              <a:buNone/>
            </a:pPr>
            <a:r>
              <a:rPr b="1" i="0" lang="en-US" sz="3600" u="none" cap="none" strike="noStrike">
                <a:solidFill>
                  <a:srgbClr val="D1D5DB"/>
                </a:solidFill>
                <a:latin typeface="Trebuchet MS"/>
                <a:ea typeface="Trebuchet MS"/>
                <a:cs typeface="Trebuchet MS"/>
                <a:sym typeface="Trebuchet MS"/>
              </a:rPr>
              <a:t>03</a:t>
            </a:r>
            <a:endParaRPr b="0" i="0" sz="3600" u="none" cap="none" strike="noStrike">
              <a:solidFill>
                <a:schemeClr val="dk1"/>
              </a:solidFill>
              <a:latin typeface="Calibri"/>
              <a:ea typeface="Calibri"/>
              <a:cs typeface="Calibri"/>
              <a:sym typeface="Calibri"/>
            </a:endParaRPr>
          </a:p>
        </p:txBody>
      </p:sp>
      <p:sp>
        <p:nvSpPr>
          <p:cNvPr id="141" name="Google Shape;141;p8"/>
          <p:cNvSpPr/>
          <p:nvPr/>
        </p:nvSpPr>
        <p:spPr>
          <a:xfrm>
            <a:off x="1371600" y="3767328"/>
            <a:ext cx="20116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500"/>
              <a:buFont typeface="Trebuchet MS"/>
              <a:buNone/>
            </a:pPr>
            <a:r>
              <a:rPr b="1" i="0" lang="en-US" sz="1500" u="none" cap="none" strike="noStrike">
                <a:solidFill>
                  <a:srgbClr val="1A1A2E"/>
                </a:solidFill>
                <a:latin typeface="Trebuchet MS"/>
                <a:ea typeface="Trebuchet MS"/>
                <a:cs typeface="Trebuchet MS"/>
                <a:sym typeface="Trebuchet MS"/>
              </a:rPr>
              <a:t>Why These Jurisdictions</a:t>
            </a:r>
            <a:endParaRPr b="0" i="0" sz="1500" u="none" cap="none" strike="noStrike">
              <a:solidFill>
                <a:schemeClr val="dk1"/>
              </a:solidFill>
              <a:latin typeface="Calibri"/>
              <a:ea typeface="Calibri"/>
              <a:cs typeface="Calibri"/>
              <a:sym typeface="Calibri"/>
            </a:endParaRPr>
          </a:p>
        </p:txBody>
      </p:sp>
      <p:sp>
        <p:nvSpPr>
          <p:cNvPr id="142" name="Google Shape;142;p8"/>
          <p:cNvSpPr/>
          <p:nvPr/>
        </p:nvSpPr>
        <p:spPr>
          <a:xfrm>
            <a:off x="1371600" y="4114800"/>
            <a:ext cx="7223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Raleigh, Charlotte, and Durham share one structural condition — no mandatory framework — and are grouped as a single case. Seattle and Oakland each represent a mandated framework condition. The unit of analysis is the transparency framework, not the individual agency.</a:t>
            </a:r>
            <a:endParaRPr b="0" i="0" sz="1250" u="none" cap="none" strike="noStrike">
              <a:solidFill>
                <a:schemeClr val="dk1"/>
              </a:solidFill>
              <a:latin typeface="Calibri"/>
              <a:ea typeface="Calibri"/>
              <a:cs typeface="Calibri"/>
              <a:sym typeface="Calibri"/>
            </a:endParaRPr>
          </a:p>
        </p:txBody>
      </p:sp>
      <p:sp>
        <p:nvSpPr>
          <p:cNvPr id="143" name="Google Shape;143;p8"/>
          <p:cNvSpPr/>
          <p:nvPr/>
        </p:nvSpPr>
        <p:spPr>
          <a:xfrm>
            <a:off x="502920" y="475488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50"/>
              <a:buFont typeface="Calibri"/>
              <a:buNone/>
            </a:pPr>
            <a:r>
              <a:rPr b="0" i="1" lang="en-US" sz="1050" u="none" cap="none" strike="noStrike">
                <a:solidFill>
                  <a:srgbClr val="6B7280"/>
                </a:solidFill>
                <a:latin typeface="Calibri"/>
                <a:ea typeface="Calibri"/>
                <a:cs typeface="Calibri"/>
                <a:sym typeface="Calibri"/>
              </a:rPr>
              <a:t>Comparative case design  ·  Single-researcher coding  ·  Documented ClickPath research</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p9"/>
          <p:cNvSpPr/>
          <p:nvPr/>
        </p:nvSpPr>
        <p:spPr>
          <a:xfrm>
            <a:off x="502920" y="32004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200"/>
              <a:buFont typeface="Trebuchet MS"/>
              <a:buNone/>
            </a:pPr>
            <a:r>
              <a:rPr b="1" i="0" lang="en-US" sz="2200" u="none" cap="none" strike="noStrike">
                <a:solidFill>
                  <a:srgbClr val="1A1A2E"/>
                </a:solidFill>
                <a:latin typeface="Trebuchet MS"/>
                <a:ea typeface="Trebuchet MS"/>
                <a:cs typeface="Trebuchet MS"/>
                <a:sym typeface="Trebuchet MS"/>
              </a:rPr>
              <a:t>Cases Overview</a:t>
            </a:r>
            <a:endParaRPr b="0" i="0" sz="2200" u="none" cap="none" strike="noStrike">
              <a:solidFill>
                <a:schemeClr val="dk1"/>
              </a:solidFill>
              <a:latin typeface="Calibri"/>
              <a:ea typeface="Calibri"/>
              <a:cs typeface="Calibri"/>
              <a:sym typeface="Calibri"/>
            </a:endParaRPr>
          </a:p>
        </p:txBody>
      </p:sp>
      <p:cxnSp>
        <p:nvCxnSpPr>
          <p:cNvPr id="150" name="Google Shape;150;p9"/>
          <p:cNvCxnSpPr/>
          <p:nvPr/>
        </p:nvCxnSpPr>
        <p:spPr>
          <a:xfrm>
            <a:off x="502920" y="868680"/>
            <a:ext cx="8138160" cy="0"/>
          </a:xfrm>
          <a:prstGeom prst="straightConnector1">
            <a:avLst/>
          </a:prstGeom>
          <a:noFill/>
          <a:ln cap="flat" cmpd="sng" w="25400">
            <a:solidFill>
              <a:srgbClr val="1D6FA4"/>
            </a:solidFill>
            <a:prstDash val="solid"/>
            <a:round/>
            <a:headEnd len="sm" w="sm" type="none"/>
            <a:tailEnd len="sm" w="sm" type="none"/>
          </a:ln>
        </p:spPr>
      </p:cxnSp>
      <p:sp>
        <p:nvSpPr>
          <p:cNvPr id="151" name="Google Shape;151;p9"/>
          <p:cNvSpPr/>
          <p:nvPr/>
        </p:nvSpPr>
        <p:spPr>
          <a:xfrm>
            <a:off x="502920" y="960120"/>
            <a:ext cx="8138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Three jurisdictions — one variable: presence or absence of a mandatory transparency framework.</a:t>
            </a:r>
            <a:endParaRPr b="0" i="0" sz="1300" u="none" cap="none" strike="noStrike">
              <a:solidFill>
                <a:schemeClr val="dk1"/>
              </a:solidFill>
              <a:latin typeface="Calibri"/>
              <a:ea typeface="Calibri"/>
              <a:cs typeface="Calibri"/>
              <a:sym typeface="Calibri"/>
            </a:endParaRPr>
          </a:p>
        </p:txBody>
      </p:sp>
      <p:sp>
        <p:nvSpPr>
          <p:cNvPr id="152" name="Google Shape;152;p9"/>
          <p:cNvSpPr/>
          <p:nvPr/>
        </p:nvSpPr>
        <p:spPr>
          <a:xfrm>
            <a:off x="502920" y="1463040"/>
            <a:ext cx="2194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500"/>
              <a:buFont typeface="Trebuchet MS"/>
              <a:buNone/>
            </a:pPr>
            <a:r>
              <a:rPr b="1" i="0" lang="en-US" sz="1500" u="none" cap="none" strike="noStrike">
                <a:solidFill>
                  <a:srgbClr val="1A1A2E"/>
                </a:solidFill>
                <a:latin typeface="Trebuchet MS"/>
                <a:ea typeface="Trebuchet MS"/>
                <a:cs typeface="Trebuchet MS"/>
                <a:sym typeface="Trebuchet MS"/>
              </a:rPr>
              <a:t>North Carolina</a:t>
            </a:r>
            <a:endParaRPr b="0" i="0" sz="1500" u="none" cap="none" strike="noStrike">
              <a:solidFill>
                <a:schemeClr val="dk1"/>
              </a:solidFill>
              <a:latin typeface="Calibri"/>
              <a:ea typeface="Calibri"/>
              <a:cs typeface="Calibri"/>
              <a:sym typeface="Calibri"/>
            </a:endParaRPr>
          </a:p>
        </p:txBody>
      </p:sp>
      <p:sp>
        <p:nvSpPr>
          <p:cNvPr id="153" name="Google Shape;153;p9"/>
          <p:cNvSpPr/>
          <p:nvPr/>
        </p:nvSpPr>
        <p:spPr>
          <a:xfrm>
            <a:off x="2834640" y="1463040"/>
            <a:ext cx="1737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300"/>
              <a:buFont typeface="Trebuchet MS"/>
              <a:buNone/>
            </a:pPr>
            <a:r>
              <a:rPr b="1" i="0" lang="en-US" sz="1300" u="none" cap="none" strike="noStrike">
                <a:solidFill>
                  <a:srgbClr val="1D6FA4"/>
                </a:solidFill>
                <a:latin typeface="Trebuchet MS"/>
                <a:ea typeface="Trebuchet MS"/>
                <a:cs typeface="Trebuchet MS"/>
                <a:sym typeface="Trebuchet MS"/>
              </a:rPr>
              <a:t>No mandatory framework</a:t>
            </a:r>
            <a:endParaRPr b="0" i="0" sz="1300" u="none" cap="none" strike="noStrike">
              <a:solidFill>
                <a:schemeClr val="dk1"/>
              </a:solidFill>
              <a:latin typeface="Calibri"/>
              <a:ea typeface="Calibri"/>
              <a:cs typeface="Calibri"/>
              <a:sym typeface="Calibri"/>
            </a:endParaRPr>
          </a:p>
        </p:txBody>
      </p:sp>
      <p:sp>
        <p:nvSpPr>
          <p:cNvPr id="154" name="Google Shape;154;p9"/>
          <p:cNvSpPr/>
          <p:nvPr/>
        </p:nvSpPr>
        <p:spPr>
          <a:xfrm>
            <a:off x="4754880" y="1463040"/>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Raleigh · Charlotte · Durham</a:t>
            </a:r>
            <a:endParaRPr b="0" i="0" sz="1200" u="none" cap="none" strike="noStrike">
              <a:solidFill>
                <a:schemeClr val="dk1"/>
              </a:solidFill>
              <a:latin typeface="Calibri"/>
              <a:ea typeface="Calibri"/>
              <a:cs typeface="Calibri"/>
              <a:sym typeface="Calibri"/>
            </a:endParaRPr>
          </a:p>
        </p:txBody>
      </p:sp>
      <p:sp>
        <p:nvSpPr>
          <p:cNvPr id="155" name="Google Shape;155;p9"/>
          <p:cNvSpPr/>
          <p:nvPr/>
        </p:nvSpPr>
        <p:spPr>
          <a:xfrm>
            <a:off x="502920" y="1810512"/>
            <a:ext cx="81381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00"/>
              <a:buFont typeface="Calibri"/>
              <a:buNone/>
            </a:pPr>
            <a:r>
              <a:rPr b="0" i="0" lang="en-US" sz="1200" u="none" cap="none" strike="noStrike">
                <a:solidFill>
                  <a:srgbClr val="2C2C3E"/>
                </a:solidFill>
                <a:latin typeface="Calibri"/>
                <a:ea typeface="Calibri"/>
                <a:cs typeface="Calibri"/>
                <a:sym typeface="Calibri"/>
              </a:rPr>
              <a:t>Absence of a framework is itself the framework-level variable. NC agencies are grouped as a single case.</a:t>
            </a:r>
            <a:endParaRPr b="0" i="0" sz="1200" u="none" cap="none" strike="noStrike">
              <a:solidFill>
                <a:schemeClr val="dk1"/>
              </a:solidFill>
              <a:latin typeface="Calibri"/>
              <a:ea typeface="Calibri"/>
              <a:cs typeface="Calibri"/>
              <a:sym typeface="Calibri"/>
            </a:endParaRPr>
          </a:p>
        </p:txBody>
      </p:sp>
      <p:cxnSp>
        <p:nvCxnSpPr>
          <p:cNvPr id="156" name="Google Shape;156;p9"/>
          <p:cNvCxnSpPr/>
          <p:nvPr/>
        </p:nvCxnSpPr>
        <p:spPr>
          <a:xfrm>
            <a:off x="502920" y="2468880"/>
            <a:ext cx="8138160" cy="0"/>
          </a:xfrm>
          <a:prstGeom prst="straightConnector1">
            <a:avLst/>
          </a:prstGeom>
          <a:noFill/>
          <a:ln cap="flat" cmpd="sng" w="9525">
            <a:solidFill>
              <a:srgbClr val="D1D5DB"/>
            </a:solidFill>
            <a:prstDash val="solid"/>
            <a:round/>
            <a:headEnd len="sm" w="sm" type="none"/>
            <a:tailEnd len="sm" w="sm" type="none"/>
          </a:ln>
        </p:spPr>
      </p:cxnSp>
      <p:sp>
        <p:nvSpPr>
          <p:cNvPr id="157" name="Google Shape;157;p9"/>
          <p:cNvSpPr/>
          <p:nvPr/>
        </p:nvSpPr>
        <p:spPr>
          <a:xfrm>
            <a:off x="502920" y="2606040"/>
            <a:ext cx="2194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500"/>
              <a:buFont typeface="Trebuchet MS"/>
              <a:buNone/>
            </a:pPr>
            <a:r>
              <a:rPr b="1" i="0" lang="en-US" sz="1500" u="none" cap="none" strike="noStrike">
                <a:solidFill>
                  <a:srgbClr val="1A1A2E"/>
                </a:solidFill>
                <a:latin typeface="Trebuchet MS"/>
                <a:ea typeface="Trebuchet MS"/>
                <a:cs typeface="Trebuchet MS"/>
                <a:sym typeface="Trebuchet MS"/>
              </a:rPr>
              <a:t>Seattle</a:t>
            </a:r>
            <a:endParaRPr b="0" i="0" sz="1500" u="none" cap="none" strike="noStrike">
              <a:solidFill>
                <a:schemeClr val="dk1"/>
              </a:solidFill>
              <a:latin typeface="Calibri"/>
              <a:ea typeface="Calibri"/>
              <a:cs typeface="Calibri"/>
              <a:sym typeface="Calibri"/>
            </a:endParaRPr>
          </a:p>
        </p:txBody>
      </p:sp>
      <p:sp>
        <p:nvSpPr>
          <p:cNvPr id="158" name="Google Shape;158;p9"/>
          <p:cNvSpPr/>
          <p:nvPr/>
        </p:nvSpPr>
        <p:spPr>
          <a:xfrm>
            <a:off x="2834640" y="2606040"/>
            <a:ext cx="1737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300"/>
              <a:buFont typeface="Trebuchet MS"/>
              <a:buNone/>
            </a:pPr>
            <a:r>
              <a:rPr b="1" i="0" lang="en-US" sz="1300" u="none" cap="none" strike="noStrike">
                <a:solidFill>
                  <a:srgbClr val="1D6FA4"/>
                </a:solidFill>
                <a:latin typeface="Trebuchet MS"/>
                <a:ea typeface="Trebuchet MS"/>
                <a:cs typeface="Trebuchet MS"/>
                <a:sym typeface="Trebuchet MS"/>
              </a:rPr>
              <a:t>SMC 14.18</a:t>
            </a:r>
            <a:endParaRPr b="0" i="0" sz="1300" u="none" cap="none" strike="noStrike">
              <a:solidFill>
                <a:schemeClr val="dk1"/>
              </a:solidFill>
              <a:latin typeface="Calibri"/>
              <a:ea typeface="Calibri"/>
              <a:cs typeface="Calibri"/>
              <a:sym typeface="Calibri"/>
            </a:endParaRPr>
          </a:p>
        </p:txBody>
      </p:sp>
      <p:sp>
        <p:nvSpPr>
          <p:cNvPr id="159" name="Google Shape;159;p9"/>
          <p:cNvSpPr/>
          <p:nvPr/>
        </p:nvSpPr>
        <p:spPr>
          <a:xfrm>
            <a:off x="4754880" y="2606040"/>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Seattle Police Department</a:t>
            </a:r>
            <a:endParaRPr b="0" i="0" sz="1200" u="none" cap="none" strike="noStrike">
              <a:solidFill>
                <a:schemeClr val="dk1"/>
              </a:solidFill>
              <a:latin typeface="Calibri"/>
              <a:ea typeface="Calibri"/>
              <a:cs typeface="Calibri"/>
              <a:sym typeface="Calibri"/>
            </a:endParaRPr>
          </a:p>
        </p:txBody>
      </p:sp>
      <p:sp>
        <p:nvSpPr>
          <p:cNvPr id="160" name="Google Shape;160;p9"/>
          <p:cNvSpPr/>
          <p:nvPr/>
        </p:nvSpPr>
        <p:spPr>
          <a:xfrm>
            <a:off x="502920" y="2953512"/>
            <a:ext cx="81381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00"/>
              <a:buFont typeface="Calibri"/>
              <a:buNone/>
            </a:pPr>
            <a:r>
              <a:rPr b="0" i="0" lang="en-US" sz="1200" u="none" cap="none" strike="noStrike">
                <a:solidFill>
                  <a:srgbClr val="2C2C3E"/>
                </a:solidFill>
                <a:latin typeface="Calibri"/>
                <a:ea typeface="Calibri"/>
                <a:cs typeface="Calibri"/>
                <a:sym typeface="Calibri"/>
              </a:rPr>
              <a:t>Mandatory surveillance ordinance requiring Surveillance Impact Reports, public access, and community review before deployment.</a:t>
            </a:r>
            <a:endParaRPr b="0" i="0" sz="1200" u="none" cap="none" strike="noStrike">
              <a:solidFill>
                <a:schemeClr val="dk1"/>
              </a:solidFill>
              <a:latin typeface="Calibri"/>
              <a:ea typeface="Calibri"/>
              <a:cs typeface="Calibri"/>
              <a:sym typeface="Calibri"/>
            </a:endParaRPr>
          </a:p>
        </p:txBody>
      </p:sp>
      <p:cxnSp>
        <p:nvCxnSpPr>
          <p:cNvPr id="161" name="Google Shape;161;p9"/>
          <p:cNvCxnSpPr/>
          <p:nvPr/>
        </p:nvCxnSpPr>
        <p:spPr>
          <a:xfrm>
            <a:off x="502920" y="3611880"/>
            <a:ext cx="8138160" cy="0"/>
          </a:xfrm>
          <a:prstGeom prst="straightConnector1">
            <a:avLst/>
          </a:prstGeom>
          <a:noFill/>
          <a:ln cap="flat" cmpd="sng" w="9525">
            <a:solidFill>
              <a:srgbClr val="D1D5DB"/>
            </a:solidFill>
            <a:prstDash val="solid"/>
            <a:round/>
            <a:headEnd len="sm" w="sm" type="none"/>
            <a:tailEnd len="sm" w="sm" type="none"/>
          </a:ln>
        </p:spPr>
      </p:cxnSp>
      <p:sp>
        <p:nvSpPr>
          <p:cNvPr id="162" name="Google Shape;162;p9"/>
          <p:cNvSpPr/>
          <p:nvPr/>
        </p:nvSpPr>
        <p:spPr>
          <a:xfrm>
            <a:off x="502920" y="3749040"/>
            <a:ext cx="2194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500"/>
              <a:buFont typeface="Trebuchet MS"/>
              <a:buNone/>
            </a:pPr>
            <a:r>
              <a:rPr b="1" i="0" lang="en-US" sz="1500" u="none" cap="none" strike="noStrike">
                <a:solidFill>
                  <a:srgbClr val="1A1A2E"/>
                </a:solidFill>
                <a:latin typeface="Trebuchet MS"/>
                <a:ea typeface="Trebuchet MS"/>
                <a:cs typeface="Trebuchet MS"/>
                <a:sym typeface="Trebuchet MS"/>
              </a:rPr>
              <a:t>Oakland</a:t>
            </a:r>
            <a:endParaRPr b="0" i="0" sz="1500" u="none" cap="none" strike="noStrike">
              <a:solidFill>
                <a:schemeClr val="dk1"/>
              </a:solidFill>
              <a:latin typeface="Calibri"/>
              <a:ea typeface="Calibri"/>
              <a:cs typeface="Calibri"/>
              <a:sym typeface="Calibri"/>
            </a:endParaRPr>
          </a:p>
        </p:txBody>
      </p:sp>
      <p:sp>
        <p:nvSpPr>
          <p:cNvPr id="163" name="Google Shape;163;p9"/>
          <p:cNvSpPr/>
          <p:nvPr/>
        </p:nvSpPr>
        <p:spPr>
          <a:xfrm>
            <a:off x="2834640" y="3749040"/>
            <a:ext cx="1737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300"/>
              <a:buFont typeface="Trebuchet MS"/>
              <a:buNone/>
            </a:pPr>
            <a:r>
              <a:rPr b="1" i="0" lang="en-US" sz="1300" u="none" cap="none" strike="noStrike">
                <a:solidFill>
                  <a:srgbClr val="1D6FA4"/>
                </a:solidFill>
                <a:latin typeface="Trebuchet MS"/>
                <a:ea typeface="Trebuchet MS"/>
                <a:cs typeface="Trebuchet MS"/>
                <a:sym typeface="Trebuchet MS"/>
              </a:rPr>
              <a:t>OMC 9.64</a:t>
            </a:r>
            <a:endParaRPr b="0" i="0" sz="1300" u="none" cap="none" strike="noStrike">
              <a:solidFill>
                <a:schemeClr val="dk1"/>
              </a:solidFill>
              <a:latin typeface="Calibri"/>
              <a:ea typeface="Calibri"/>
              <a:cs typeface="Calibri"/>
              <a:sym typeface="Calibri"/>
            </a:endParaRPr>
          </a:p>
        </p:txBody>
      </p:sp>
      <p:sp>
        <p:nvSpPr>
          <p:cNvPr id="164" name="Google Shape;164;p9"/>
          <p:cNvSpPr/>
          <p:nvPr/>
        </p:nvSpPr>
        <p:spPr>
          <a:xfrm>
            <a:off x="4754880" y="3749040"/>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Oakland Police Department</a:t>
            </a:r>
            <a:endParaRPr b="0" i="0" sz="1200" u="none" cap="none" strike="noStrike">
              <a:solidFill>
                <a:schemeClr val="dk1"/>
              </a:solidFill>
              <a:latin typeface="Calibri"/>
              <a:ea typeface="Calibri"/>
              <a:cs typeface="Calibri"/>
              <a:sym typeface="Calibri"/>
            </a:endParaRPr>
          </a:p>
        </p:txBody>
      </p:sp>
      <p:sp>
        <p:nvSpPr>
          <p:cNvPr id="165" name="Google Shape;165;p9"/>
          <p:cNvSpPr/>
          <p:nvPr/>
        </p:nvSpPr>
        <p:spPr>
          <a:xfrm>
            <a:off x="502920" y="4096512"/>
            <a:ext cx="81381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00"/>
              <a:buFont typeface="Calibri"/>
              <a:buNone/>
            </a:pPr>
            <a:r>
              <a:rPr b="0" i="0" lang="en-US" sz="1200" u="none" cap="none" strike="noStrike">
                <a:solidFill>
                  <a:srgbClr val="2C2C3E"/>
                </a:solidFill>
                <a:latin typeface="Calibri"/>
                <a:ea typeface="Calibri"/>
                <a:cs typeface="Calibri"/>
                <a:sym typeface="Calibri"/>
              </a:rPr>
              <a:t>Community control ordinance with Privacy Advisory Commission review and mandatory approval process.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10"/>
          <p:cNvSpPr/>
          <p:nvPr/>
        </p:nvSpPr>
        <p:spPr>
          <a:xfrm>
            <a:off x="502920" y="32004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200"/>
              <a:buFont typeface="Trebuchet MS"/>
              <a:buNone/>
            </a:pPr>
            <a:r>
              <a:rPr b="1" i="0" lang="en-US" sz="2200" u="none" cap="none" strike="noStrike">
                <a:solidFill>
                  <a:srgbClr val="1A1A2E"/>
                </a:solidFill>
                <a:latin typeface="Trebuchet MS"/>
                <a:ea typeface="Trebuchet MS"/>
                <a:cs typeface="Trebuchet MS"/>
                <a:sym typeface="Trebuchet MS"/>
              </a:rPr>
              <a:t>North Carolina: Three Patterns</a:t>
            </a:r>
            <a:endParaRPr b="0" i="0" sz="2200" u="none" cap="none" strike="noStrike">
              <a:solidFill>
                <a:schemeClr val="dk1"/>
              </a:solidFill>
              <a:latin typeface="Calibri"/>
              <a:ea typeface="Calibri"/>
              <a:cs typeface="Calibri"/>
              <a:sym typeface="Calibri"/>
            </a:endParaRPr>
          </a:p>
        </p:txBody>
      </p:sp>
      <p:cxnSp>
        <p:nvCxnSpPr>
          <p:cNvPr id="172" name="Google Shape;172;p10"/>
          <p:cNvCxnSpPr/>
          <p:nvPr/>
        </p:nvCxnSpPr>
        <p:spPr>
          <a:xfrm>
            <a:off x="502920" y="868680"/>
            <a:ext cx="8138160" cy="0"/>
          </a:xfrm>
          <a:prstGeom prst="straightConnector1">
            <a:avLst/>
          </a:prstGeom>
          <a:noFill/>
          <a:ln cap="flat" cmpd="sng" w="25400">
            <a:solidFill>
              <a:srgbClr val="1D6FA4"/>
            </a:solidFill>
            <a:prstDash val="solid"/>
            <a:round/>
            <a:headEnd len="sm" w="sm" type="none"/>
            <a:tailEnd len="sm" w="sm" type="none"/>
          </a:ln>
        </p:spPr>
      </p:cxnSp>
      <p:sp>
        <p:nvSpPr>
          <p:cNvPr id="173" name="Google Shape;173;p10"/>
          <p:cNvSpPr/>
          <p:nvPr/>
        </p:nvSpPr>
        <p:spPr>
          <a:xfrm>
            <a:off x="502920" y="960120"/>
            <a:ext cx="8138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Without a mandatory framework, NC agencies did not converge on a single behavior — they diverged.</a:t>
            </a:r>
            <a:endParaRPr b="0" i="0" sz="1300" u="none" cap="none" strike="noStrike">
              <a:solidFill>
                <a:schemeClr val="dk1"/>
              </a:solidFill>
              <a:latin typeface="Calibri"/>
              <a:ea typeface="Calibri"/>
              <a:cs typeface="Calibri"/>
              <a:sym typeface="Calibri"/>
            </a:endParaRPr>
          </a:p>
        </p:txBody>
      </p:sp>
      <p:sp>
        <p:nvSpPr>
          <p:cNvPr id="174" name="Google Shape;174;p10"/>
          <p:cNvSpPr/>
          <p:nvPr/>
        </p:nvSpPr>
        <p:spPr>
          <a:xfrm>
            <a:off x="502920" y="1463040"/>
            <a:ext cx="14630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300"/>
              <a:buFont typeface="Trebuchet MS"/>
              <a:buNone/>
            </a:pPr>
            <a:r>
              <a:rPr b="1" i="0" lang="en-US" sz="1300" u="none" cap="none" strike="noStrike">
                <a:solidFill>
                  <a:srgbClr val="1A1A2E"/>
                </a:solidFill>
                <a:latin typeface="Trebuchet MS"/>
                <a:ea typeface="Trebuchet MS"/>
                <a:cs typeface="Trebuchet MS"/>
                <a:sym typeface="Trebuchet MS"/>
              </a:rPr>
              <a:t>Charlotte</a:t>
            </a:r>
            <a:endParaRPr b="0" i="0" sz="1300" u="none" cap="none" strike="noStrike">
              <a:solidFill>
                <a:schemeClr val="dk1"/>
              </a:solidFill>
              <a:latin typeface="Calibri"/>
              <a:ea typeface="Calibri"/>
              <a:cs typeface="Calibri"/>
              <a:sym typeface="Calibri"/>
            </a:endParaRPr>
          </a:p>
        </p:txBody>
      </p:sp>
      <p:sp>
        <p:nvSpPr>
          <p:cNvPr id="175" name="Google Shape;175;p10"/>
          <p:cNvSpPr/>
          <p:nvPr/>
        </p:nvSpPr>
        <p:spPr>
          <a:xfrm>
            <a:off x="2148840" y="1463040"/>
            <a:ext cx="3657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300"/>
              <a:buFont typeface="Trebuchet MS"/>
              <a:buNone/>
            </a:pPr>
            <a:r>
              <a:rPr b="1" i="0" lang="en-US" sz="1300" u="none" cap="none" strike="noStrike">
                <a:solidFill>
                  <a:srgbClr val="1D6FA4"/>
                </a:solidFill>
                <a:latin typeface="Trebuchet MS"/>
                <a:ea typeface="Trebuchet MS"/>
                <a:cs typeface="Trebuchet MS"/>
                <a:sym typeface="Trebuchet MS"/>
              </a:rPr>
              <a:t>Silence</a:t>
            </a:r>
            <a:endParaRPr b="0" i="0" sz="1300" u="none" cap="none" strike="noStrike">
              <a:solidFill>
                <a:schemeClr val="dk1"/>
              </a:solidFill>
              <a:latin typeface="Calibri"/>
              <a:ea typeface="Calibri"/>
              <a:cs typeface="Calibri"/>
              <a:sym typeface="Calibri"/>
            </a:endParaRPr>
          </a:p>
        </p:txBody>
      </p:sp>
      <p:sp>
        <p:nvSpPr>
          <p:cNvPr id="176" name="Google Shape;176;p10"/>
          <p:cNvSpPr/>
          <p:nvPr/>
        </p:nvSpPr>
        <p:spPr>
          <a:xfrm>
            <a:off x="502920" y="1810512"/>
            <a:ext cx="81381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No findable AI disclosure documents. Search returns no relevant results across all three Redish phases.</a:t>
            </a:r>
            <a:endParaRPr b="0" i="0" sz="1250" u="none" cap="none" strike="noStrike">
              <a:solidFill>
                <a:schemeClr val="dk1"/>
              </a:solidFill>
              <a:latin typeface="Calibri"/>
              <a:ea typeface="Calibri"/>
              <a:cs typeface="Calibri"/>
              <a:sym typeface="Calibri"/>
            </a:endParaRPr>
          </a:p>
        </p:txBody>
      </p:sp>
      <p:cxnSp>
        <p:nvCxnSpPr>
          <p:cNvPr id="177" name="Google Shape;177;p10"/>
          <p:cNvCxnSpPr/>
          <p:nvPr/>
        </p:nvCxnSpPr>
        <p:spPr>
          <a:xfrm>
            <a:off x="502920" y="2542032"/>
            <a:ext cx="8138160" cy="0"/>
          </a:xfrm>
          <a:prstGeom prst="straightConnector1">
            <a:avLst/>
          </a:prstGeom>
          <a:noFill/>
          <a:ln cap="flat" cmpd="sng" w="9525">
            <a:solidFill>
              <a:srgbClr val="D1D5DB"/>
            </a:solidFill>
            <a:prstDash val="solid"/>
            <a:round/>
            <a:headEnd len="sm" w="sm" type="none"/>
            <a:tailEnd len="sm" w="sm" type="none"/>
          </a:ln>
        </p:spPr>
      </p:cxnSp>
      <p:sp>
        <p:nvSpPr>
          <p:cNvPr id="178" name="Google Shape;178;p10"/>
          <p:cNvSpPr/>
          <p:nvPr/>
        </p:nvSpPr>
        <p:spPr>
          <a:xfrm>
            <a:off x="502920" y="2606040"/>
            <a:ext cx="14630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300"/>
              <a:buFont typeface="Trebuchet MS"/>
              <a:buNone/>
            </a:pPr>
            <a:r>
              <a:rPr b="1" i="0" lang="en-US" sz="1300" u="none" cap="none" strike="noStrike">
                <a:solidFill>
                  <a:srgbClr val="1A1A2E"/>
                </a:solidFill>
                <a:latin typeface="Trebuchet MS"/>
                <a:ea typeface="Trebuchet MS"/>
                <a:cs typeface="Trebuchet MS"/>
                <a:sym typeface="Trebuchet MS"/>
              </a:rPr>
              <a:t>Raleigh</a:t>
            </a:r>
            <a:endParaRPr b="0" i="0" sz="1300" u="none" cap="none" strike="noStrike">
              <a:solidFill>
                <a:schemeClr val="dk1"/>
              </a:solidFill>
              <a:latin typeface="Calibri"/>
              <a:ea typeface="Calibri"/>
              <a:cs typeface="Calibri"/>
              <a:sym typeface="Calibri"/>
            </a:endParaRPr>
          </a:p>
        </p:txBody>
      </p:sp>
      <p:sp>
        <p:nvSpPr>
          <p:cNvPr id="179" name="Google Shape;179;p10"/>
          <p:cNvSpPr/>
          <p:nvPr/>
        </p:nvSpPr>
        <p:spPr>
          <a:xfrm>
            <a:off x="2148840" y="2606040"/>
            <a:ext cx="3657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300"/>
              <a:buFont typeface="Trebuchet MS"/>
              <a:buNone/>
            </a:pPr>
            <a:r>
              <a:rPr b="1" i="0" lang="en-US" sz="1300" u="none" cap="none" strike="noStrike">
                <a:solidFill>
                  <a:srgbClr val="1D6FA4"/>
                </a:solidFill>
                <a:latin typeface="Trebuchet MS"/>
                <a:ea typeface="Trebuchet MS"/>
                <a:cs typeface="Trebuchet MS"/>
                <a:sym typeface="Trebuchet MS"/>
              </a:rPr>
              <a:t>AI-generated misinformation</a:t>
            </a:r>
            <a:endParaRPr b="0" i="0" sz="1300" u="none" cap="none" strike="noStrike">
              <a:solidFill>
                <a:schemeClr val="dk1"/>
              </a:solidFill>
              <a:latin typeface="Calibri"/>
              <a:ea typeface="Calibri"/>
              <a:cs typeface="Calibri"/>
              <a:sym typeface="Calibri"/>
            </a:endParaRPr>
          </a:p>
        </p:txBody>
      </p:sp>
      <p:sp>
        <p:nvSpPr>
          <p:cNvPr id="180" name="Google Shape;180;p10"/>
          <p:cNvSpPr/>
          <p:nvPr/>
        </p:nvSpPr>
        <p:spPr>
          <a:xfrm>
            <a:off x="502920" y="2953512"/>
            <a:ext cx="81381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The city's own AI assistant fabricated a Clearview AI description linked to an unrelated document — a compounded findability failure beyond mere absence.</a:t>
            </a:r>
            <a:endParaRPr b="0" i="0" sz="1250" u="none" cap="none" strike="noStrike">
              <a:solidFill>
                <a:schemeClr val="dk1"/>
              </a:solidFill>
              <a:latin typeface="Calibri"/>
              <a:ea typeface="Calibri"/>
              <a:cs typeface="Calibri"/>
              <a:sym typeface="Calibri"/>
            </a:endParaRPr>
          </a:p>
        </p:txBody>
      </p:sp>
      <p:cxnSp>
        <p:nvCxnSpPr>
          <p:cNvPr id="181" name="Google Shape;181;p10"/>
          <p:cNvCxnSpPr/>
          <p:nvPr/>
        </p:nvCxnSpPr>
        <p:spPr>
          <a:xfrm>
            <a:off x="502920" y="3685032"/>
            <a:ext cx="8138160" cy="0"/>
          </a:xfrm>
          <a:prstGeom prst="straightConnector1">
            <a:avLst/>
          </a:prstGeom>
          <a:noFill/>
          <a:ln cap="flat" cmpd="sng" w="9525">
            <a:solidFill>
              <a:srgbClr val="D1D5DB"/>
            </a:solidFill>
            <a:prstDash val="solid"/>
            <a:round/>
            <a:headEnd len="sm" w="sm" type="none"/>
            <a:tailEnd len="sm" w="sm" type="none"/>
          </a:ln>
        </p:spPr>
      </p:cxnSp>
      <p:sp>
        <p:nvSpPr>
          <p:cNvPr id="182" name="Google Shape;182;p10"/>
          <p:cNvSpPr/>
          <p:nvPr/>
        </p:nvSpPr>
        <p:spPr>
          <a:xfrm>
            <a:off x="502920" y="3749040"/>
            <a:ext cx="14630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300"/>
              <a:buFont typeface="Trebuchet MS"/>
              <a:buNone/>
            </a:pPr>
            <a:r>
              <a:rPr b="1" i="0" lang="en-US" sz="1300" u="none" cap="none" strike="noStrike">
                <a:solidFill>
                  <a:srgbClr val="1A1A2E"/>
                </a:solidFill>
                <a:latin typeface="Trebuchet MS"/>
                <a:ea typeface="Trebuchet MS"/>
                <a:cs typeface="Trebuchet MS"/>
                <a:sym typeface="Trebuchet MS"/>
              </a:rPr>
              <a:t>Durham</a:t>
            </a:r>
            <a:endParaRPr b="0" i="0" sz="1300" u="none" cap="none" strike="noStrike">
              <a:solidFill>
                <a:schemeClr val="dk1"/>
              </a:solidFill>
              <a:latin typeface="Calibri"/>
              <a:ea typeface="Calibri"/>
              <a:cs typeface="Calibri"/>
              <a:sym typeface="Calibri"/>
            </a:endParaRPr>
          </a:p>
        </p:txBody>
      </p:sp>
      <p:sp>
        <p:nvSpPr>
          <p:cNvPr id="183" name="Google Shape;183;p10"/>
          <p:cNvSpPr/>
          <p:nvPr/>
        </p:nvSpPr>
        <p:spPr>
          <a:xfrm>
            <a:off x="2148840" y="3749040"/>
            <a:ext cx="3657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300"/>
              <a:buFont typeface="Trebuchet MS"/>
              <a:buNone/>
            </a:pPr>
            <a:r>
              <a:rPr b="1" i="0" lang="en-US" sz="1300" u="none" cap="none" strike="noStrike">
                <a:solidFill>
                  <a:srgbClr val="1D6FA4"/>
                </a:solidFill>
                <a:latin typeface="Trebuchet MS"/>
                <a:ea typeface="Trebuchet MS"/>
                <a:cs typeface="Trebuchet MS"/>
                <a:sym typeface="Trebuchet MS"/>
              </a:rPr>
              <a:t>Reactive disclosure</a:t>
            </a:r>
            <a:endParaRPr b="0" i="0" sz="1300" u="none" cap="none" strike="noStrike">
              <a:solidFill>
                <a:schemeClr val="dk1"/>
              </a:solidFill>
              <a:latin typeface="Calibri"/>
              <a:ea typeface="Calibri"/>
              <a:cs typeface="Calibri"/>
              <a:sym typeface="Calibri"/>
            </a:endParaRPr>
          </a:p>
        </p:txBody>
      </p:sp>
      <p:sp>
        <p:nvSpPr>
          <p:cNvPr id="184" name="Google Shape;184;p10"/>
          <p:cNvSpPr/>
          <p:nvPr/>
        </p:nvSpPr>
        <p:spPr>
          <a:xfrm>
            <a:off x="502920" y="4096512"/>
            <a:ext cx="81381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A Town Hall FAQ was produced only after City Council required community input. Durham demonstrably has capacity to communicate clearly; it deploys that capacity only under institutional pressure.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 name="Shape 189"/>
        <p:cNvGrpSpPr/>
        <p:nvPr/>
      </p:nvGrpSpPr>
      <p:grpSpPr>
        <a:xfrm>
          <a:off x="0" y="0"/>
          <a:ext cx="0" cy="0"/>
          <a:chOff x="0" y="0"/>
          <a:chExt cx="0" cy="0"/>
        </a:xfrm>
      </p:grpSpPr>
      <p:sp>
        <p:nvSpPr>
          <p:cNvPr id="190" name="Google Shape;190;p11"/>
          <p:cNvSpPr/>
          <p:nvPr/>
        </p:nvSpPr>
        <p:spPr>
          <a:xfrm>
            <a:off x="502920" y="32004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200"/>
              <a:buFont typeface="Trebuchet MS"/>
              <a:buNone/>
            </a:pPr>
            <a:r>
              <a:rPr b="1" i="0" lang="en-US" sz="2200" u="none" cap="none" strike="noStrike">
                <a:solidFill>
                  <a:srgbClr val="1A1A2E"/>
                </a:solidFill>
                <a:latin typeface="Trebuchet MS"/>
                <a:ea typeface="Trebuchet MS"/>
                <a:cs typeface="Trebuchet MS"/>
                <a:sym typeface="Trebuchet MS"/>
              </a:rPr>
              <a:t>Seattle: SMC 14.18 in Practice</a:t>
            </a:r>
            <a:endParaRPr b="0" i="0" sz="2200" u="none" cap="none" strike="noStrike">
              <a:solidFill>
                <a:schemeClr val="dk1"/>
              </a:solidFill>
              <a:latin typeface="Calibri"/>
              <a:ea typeface="Calibri"/>
              <a:cs typeface="Calibri"/>
              <a:sym typeface="Calibri"/>
            </a:endParaRPr>
          </a:p>
        </p:txBody>
      </p:sp>
      <p:cxnSp>
        <p:nvCxnSpPr>
          <p:cNvPr id="191" name="Google Shape;191;p11"/>
          <p:cNvCxnSpPr/>
          <p:nvPr/>
        </p:nvCxnSpPr>
        <p:spPr>
          <a:xfrm>
            <a:off x="502920" y="868680"/>
            <a:ext cx="8138160" cy="0"/>
          </a:xfrm>
          <a:prstGeom prst="straightConnector1">
            <a:avLst/>
          </a:prstGeom>
          <a:noFill/>
          <a:ln cap="flat" cmpd="sng" w="25400">
            <a:solidFill>
              <a:srgbClr val="1D6FA4"/>
            </a:solidFill>
            <a:prstDash val="solid"/>
            <a:round/>
            <a:headEnd len="sm" w="sm" type="none"/>
            <a:tailEnd len="sm" w="sm" type="none"/>
          </a:ln>
        </p:spPr>
      </p:cxnSp>
      <p:sp>
        <p:nvSpPr>
          <p:cNvPr id="192" name="Google Shape;192;p11"/>
          <p:cNvSpPr/>
          <p:nvPr/>
        </p:nvSpPr>
        <p:spPr>
          <a:xfrm>
            <a:off x="502920" y="1005840"/>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300"/>
              <a:buFont typeface="Trebuchet MS"/>
              <a:buNone/>
            </a:pPr>
            <a:r>
              <a:rPr b="1" i="0" lang="en-US" sz="1300" u="none" cap="none" strike="noStrike">
                <a:solidFill>
                  <a:srgbClr val="1D6FA4"/>
                </a:solidFill>
                <a:latin typeface="Trebuchet MS"/>
                <a:ea typeface="Trebuchet MS"/>
                <a:cs typeface="Trebuchet MS"/>
                <a:sym typeface="Trebuchet MS"/>
              </a:rPr>
              <a:t>The framework</a:t>
            </a:r>
            <a:endParaRPr b="0" i="0" sz="1300" u="none" cap="none" strike="noStrike">
              <a:solidFill>
                <a:schemeClr val="dk1"/>
              </a:solidFill>
              <a:latin typeface="Calibri"/>
              <a:ea typeface="Calibri"/>
              <a:cs typeface="Calibri"/>
              <a:sym typeface="Calibri"/>
            </a:endParaRPr>
          </a:p>
        </p:txBody>
      </p:sp>
      <p:sp>
        <p:nvSpPr>
          <p:cNvPr id="193" name="Google Shape;193;p11"/>
          <p:cNvSpPr/>
          <p:nvPr/>
        </p:nvSpPr>
        <p:spPr>
          <a:xfrm>
            <a:off x="502920" y="1417320"/>
            <a:ext cx="3931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 Surveillance Impact Reports (SIRs) required before deployment</a:t>
            </a:r>
            <a:endParaRPr b="0" i="0" sz="1250" u="none" cap="none" strike="noStrike">
              <a:solidFill>
                <a:schemeClr val="dk1"/>
              </a:solidFill>
              <a:latin typeface="Calibri"/>
              <a:ea typeface="Calibri"/>
              <a:cs typeface="Calibri"/>
              <a:sym typeface="Calibri"/>
            </a:endParaRPr>
          </a:p>
        </p:txBody>
      </p:sp>
      <p:sp>
        <p:nvSpPr>
          <p:cNvPr id="194" name="Google Shape;194;p11"/>
          <p:cNvSpPr/>
          <p:nvPr/>
        </p:nvSpPr>
        <p:spPr>
          <a:xfrm>
            <a:off x="502920" y="2057400"/>
            <a:ext cx="3931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 Publicly accessible document portal maintained by the city</a:t>
            </a:r>
            <a:endParaRPr b="0" i="0" sz="1250" u="none" cap="none" strike="noStrike">
              <a:solidFill>
                <a:schemeClr val="dk1"/>
              </a:solidFill>
              <a:latin typeface="Calibri"/>
              <a:ea typeface="Calibri"/>
              <a:cs typeface="Calibri"/>
              <a:sym typeface="Calibri"/>
            </a:endParaRPr>
          </a:p>
        </p:txBody>
      </p:sp>
      <p:sp>
        <p:nvSpPr>
          <p:cNvPr id="195" name="Google Shape;195;p11"/>
          <p:cNvSpPr/>
          <p:nvPr/>
        </p:nvSpPr>
        <p:spPr>
          <a:xfrm>
            <a:off x="502920" y="2697480"/>
            <a:ext cx="3931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 Adopted SIR register provides persistent access</a:t>
            </a:r>
            <a:endParaRPr b="0" i="0" sz="1250" u="none" cap="none" strike="noStrike">
              <a:solidFill>
                <a:schemeClr val="dk1"/>
              </a:solidFill>
              <a:latin typeface="Calibri"/>
              <a:ea typeface="Calibri"/>
              <a:cs typeface="Calibri"/>
              <a:sym typeface="Calibri"/>
            </a:endParaRPr>
          </a:p>
        </p:txBody>
      </p:sp>
      <p:sp>
        <p:nvSpPr>
          <p:cNvPr id="196" name="Google Shape;196;p11"/>
          <p:cNvSpPr/>
          <p:nvPr/>
        </p:nvSpPr>
        <p:spPr>
          <a:xfrm>
            <a:off x="502920" y="3337560"/>
            <a:ext cx="3931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 Community review required prior to any deployment</a:t>
            </a:r>
            <a:endParaRPr b="0" i="0" sz="1250" u="none" cap="none" strike="noStrike">
              <a:solidFill>
                <a:schemeClr val="dk1"/>
              </a:solidFill>
              <a:latin typeface="Calibri"/>
              <a:ea typeface="Calibri"/>
              <a:cs typeface="Calibri"/>
              <a:sym typeface="Calibri"/>
            </a:endParaRPr>
          </a:p>
        </p:txBody>
      </p:sp>
      <p:cxnSp>
        <p:nvCxnSpPr>
          <p:cNvPr id="197" name="Google Shape;197;p11"/>
          <p:cNvCxnSpPr/>
          <p:nvPr/>
        </p:nvCxnSpPr>
        <p:spPr>
          <a:xfrm>
            <a:off x="4709160" y="960120"/>
            <a:ext cx="0" cy="3931920"/>
          </a:xfrm>
          <a:prstGeom prst="straightConnector1">
            <a:avLst/>
          </a:prstGeom>
          <a:noFill/>
          <a:ln cap="flat" cmpd="sng" w="12700">
            <a:solidFill>
              <a:srgbClr val="D1D5DB"/>
            </a:solidFill>
            <a:prstDash val="solid"/>
            <a:round/>
            <a:headEnd len="sm" w="sm" type="none"/>
            <a:tailEnd len="sm" w="sm" type="none"/>
          </a:ln>
        </p:spPr>
      </p:cxnSp>
      <p:sp>
        <p:nvSpPr>
          <p:cNvPr id="198" name="Google Shape;198;p11"/>
          <p:cNvSpPr/>
          <p:nvPr/>
        </p:nvSpPr>
        <p:spPr>
          <a:xfrm>
            <a:off x="4937760" y="1005840"/>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300"/>
              <a:buFont typeface="Trebuchet MS"/>
              <a:buNone/>
            </a:pPr>
            <a:r>
              <a:rPr b="1" i="0" lang="en-US" sz="1300" u="none" cap="none" strike="noStrike">
                <a:solidFill>
                  <a:srgbClr val="1D6FA4"/>
                </a:solidFill>
                <a:latin typeface="Trebuchet MS"/>
                <a:ea typeface="Trebuchet MS"/>
                <a:cs typeface="Trebuchet MS"/>
                <a:sym typeface="Trebuchet MS"/>
              </a:rPr>
              <a:t>Redish analysis</a:t>
            </a:r>
            <a:endParaRPr b="0" i="0" sz="1300" u="none" cap="none" strike="noStrike">
              <a:solidFill>
                <a:schemeClr val="dk1"/>
              </a:solidFill>
              <a:latin typeface="Calibri"/>
              <a:ea typeface="Calibri"/>
              <a:cs typeface="Calibri"/>
              <a:sym typeface="Calibri"/>
            </a:endParaRPr>
          </a:p>
        </p:txBody>
      </p:sp>
      <p:sp>
        <p:nvSpPr>
          <p:cNvPr id="199" name="Google Shape;199;p11"/>
          <p:cNvSpPr/>
          <p:nvPr/>
        </p:nvSpPr>
        <p:spPr>
          <a:xfrm>
            <a:off x="4937760" y="141732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200"/>
              <a:buFont typeface="Trebuchet MS"/>
              <a:buNone/>
            </a:pPr>
            <a:r>
              <a:rPr b="1" i="0" lang="en-US" sz="1200" u="none" cap="none" strike="noStrike">
                <a:solidFill>
                  <a:srgbClr val="1A1A2E"/>
                </a:solidFill>
                <a:latin typeface="Trebuchet MS"/>
                <a:ea typeface="Trebuchet MS"/>
                <a:cs typeface="Trebuchet MS"/>
                <a:sym typeface="Trebuchet MS"/>
              </a:rPr>
              <a:t>Findability</a:t>
            </a:r>
            <a:endParaRPr b="0" i="0" sz="1200" u="none" cap="none" strike="noStrike">
              <a:solidFill>
                <a:schemeClr val="dk1"/>
              </a:solidFill>
              <a:latin typeface="Calibri"/>
              <a:ea typeface="Calibri"/>
              <a:cs typeface="Calibri"/>
              <a:sym typeface="Calibri"/>
            </a:endParaRPr>
          </a:p>
        </p:txBody>
      </p:sp>
      <p:sp>
        <p:nvSpPr>
          <p:cNvPr id="200" name="Google Shape;200;p11"/>
          <p:cNvSpPr/>
          <p:nvPr/>
        </p:nvSpPr>
        <p:spPr>
          <a:xfrm>
            <a:off x="4937760" y="1709928"/>
            <a:ext cx="374904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00"/>
              <a:buFont typeface="Calibri"/>
              <a:buNone/>
            </a:pPr>
            <a:r>
              <a:rPr b="0" i="0" lang="en-US" sz="1200" u="none" cap="none" strike="noStrike">
                <a:solidFill>
                  <a:srgbClr val="2C2C3E"/>
                </a:solidFill>
                <a:latin typeface="Calibri"/>
                <a:ea typeface="Calibri"/>
                <a:cs typeface="Calibri"/>
                <a:sym typeface="Calibri"/>
              </a:rPr>
              <a:t>Dedicated portal surfaces documents reliably. Adopted SIR register provides persistent, stable access.</a:t>
            </a:r>
            <a:endParaRPr b="0" i="0" sz="1200" u="none" cap="none" strike="noStrike">
              <a:solidFill>
                <a:schemeClr val="dk1"/>
              </a:solidFill>
              <a:latin typeface="Calibri"/>
              <a:ea typeface="Calibri"/>
              <a:cs typeface="Calibri"/>
              <a:sym typeface="Calibri"/>
            </a:endParaRPr>
          </a:p>
        </p:txBody>
      </p:sp>
      <p:sp>
        <p:nvSpPr>
          <p:cNvPr id="201" name="Google Shape;201;p11"/>
          <p:cNvSpPr/>
          <p:nvPr/>
        </p:nvSpPr>
        <p:spPr>
          <a:xfrm>
            <a:off x="4937760" y="260604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200"/>
              <a:buFont typeface="Trebuchet MS"/>
              <a:buNone/>
            </a:pPr>
            <a:r>
              <a:rPr b="1" i="0" lang="en-US" sz="1200" u="none" cap="none" strike="noStrike">
                <a:solidFill>
                  <a:srgbClr val="1A1A2E"/>
                </a:solidFill>
                <a:latin typeface="Trebuchet MS"/>
                <a:ea typeface="Trebuchet MS"/>
                <a:cs typeface="Trebuchet MS"/>
                <a:sym typeface="Trebuchet MS"/>
              </a:rPr>
              <a:t>Comprehensibility</a:t>
            </a:r>
            <a:endParaRPr b="0" i="0" sz="1200" u="none" cap="none" strike="noStrike">
              <a:solidFill>
                <a:schemeClr val="dk1"/>
              </a:solidFill>
              <a:latin typeface="Calibri"/>
              <a:ea typeface="Calibri"/>
              <a:cs typeface="Calibri"/>
              <a:sym typeface="Calibri"/>
            </a:endParaRPr>
          </a:p>
        </p:txBody>
      </p:sp>
      <p:sp>
        <p:nvSpPr>
          <p:cNvPr id="202" name="Google Shape;202;p11"/>
          <p:cNvSpPr/>
          <p:nvPr/>
        </p:nvSpPr>
        <p:spPr>
          <a:xfrm>
            <a:off x="4937760" y="2898648"/>
            <a:ext cx="374904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00"/>
              <a:buFont typeface="Calibri"/>
              <a:buNone/>
            </a:pPr>
            <a:r>
              <a:rPr b="0" i="0" lang="en-US" sz="1200" u="none" cap="none" strike="noStrike">
                <a:solidFill>
                  <a:srgbClr val="2C2C3E"/>
                </a:solidFill>
                <a:latin typeface="Calibri"/>
                <a:ea typeface="Calibri"/>
                <a:cs typeface="Calibri"/>
                <a:sym typeface="Calibri"/>
              </a:rPr>
              <a:t>Structured SIR templates produce consistent terminology and defined sections across documents.</a:t>
            </a:r>
            <a:endParaRPr b="0" i="0" sz="1200" u="none" cap="none" strike="noStrike">
              <a:solidFill>
                <a:schemeClr val="dk1"/>
              </a:solidFill>
              <a:latin typeface="Calibri"/>
              <a:ea typeface="Calibri"/>
              <a:cs typeface="Calibri"/>
              <a:sym typeface="Calibri"/>
            </a:endParaRPr>
          </a:p>
        </p:txBody>
      </p:sp>
      <p:sp>
        <p:nvSpPr>
          <p:cNvPr id="203" name="Google Shape;203;p11"/>
          <p:cNvSpPr/>
          <p:nvPr/>
        </p:nvSpPr>
        <p:spPr>
          <a:xfrm>
            <a:off x="4937760" y="379476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200"/>
              <a:buFont typeface="Trebuchet MS"/>
              <a:buNone/>
            </a:pPr>
            <a:r>
              <a:rPr b="1" i="0" lang="en-US" sz="1200" u="none" cap="none" strike="noStrike">
                <a:solidFill>
                  <a:srgbClr val="1A1A2E"/>
                </a:solidFill>
                <a:latin typeface="Trebuchet MS"/>
                <a:ea typeface="Trebuchet MS"/>
                <a:cs typeface="Trebuchet MS"/>
                <a:sym typeface="Trebuchet MS"/>
              </a:rPr>
              <a:t>Usability</a:t>
            </a:r>
            <a:endParaRPr b="0" i="0" sz="1200" u="none" cap="none" strike="noStrike">
              <a:solidFill>
                <a:schemeClr val="dk1"/>
              </a:solidFill>
              <a:latin typeface="Calibri"/>
              <a:ea typeface="Calibri"/>
              <a:cs typeface="Calibri"/>
              <a:sym typeface="Calibri"/>
            </a:endParaRPr>
          </a:p>
        </p:txBody>
      </p:sp>
      <p:sp>
        <p:nvSpPr>
          <p:cNvPr id="204" name="Google Shape;204;p11"/>
          <p:cNvSpPr/>
          <p:nvPr/>
        </p:nvSpPr>
        <p:spPr>
          <a:xfrm>
            <a:off x="4937760" y="4087368"/>
            <a:ext cx="374904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00"/>
              <a:buFont typeface="Calibri"/>
              <a:buNone/>
            </a:pPr>
            <a:r>
              <a:rPr b="0" i="0" lang="en-US" sz="1200" u="none" cap="none" strike="noStrike">
                <a:solidFill>
                  <a:srgbClr val="2C2C3E"/>
                </a:solidFill>
                <a:latin typeface="Calibri"/>
                <a:ea typeface="Calibri"/>
                <a:cs typeface="Calibri"/>
                <a:sym typeface="Calibri"/>
              </a:rPr>
              <a:t>Documents designed to support community review — action-oriented structure, not archive-only.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12"/>
          <p:cNvSpPr/>
          <p:nvPr/>
        </p:nvSpPr>
        <p:spPr>
          <a:xfrm>
            <a:off x="502920" y="32004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200"/>
              <a:buFont typeface="Trebuchet MS"/>
              <a:buNone/>
            </a:pPr>
            <a:r>
              <a:rPr b="1" i="0" lang="en-US" sz="2200" u="none" cap="none" strike="noStrike">
                <a:solidFill>
                  <a:srgbClr val="1A1A2E"/>
                </a:solidFill>
                <a:latin typeface="Trebuchet MS"/>
                <a:ea typeface="Trebuchet MS"/>
                <a:cs typeface="Trebuchet MS"/>
                <a:sym typeface="Trebuchet MS"/>
              </a:rPr>
              <a:t>Oakland: OMC 9.64 in Practice</a:t>
            </a:r>
            <a:endParaRPr b="0" i="0" sz="2200" u="none" cap="none" strike="noStrike">
              <a:solidFill>
                <a:schemeClr val="dk1"/>
              </a:solidFill>
              <a:latin typeface="Calibri"/>
              <a:ea typeface="Calibri"/>
              <a:cs typeface="Calibri"/>
              <a:sym typeface="Calibri"/>
            </a:endParaRPr>
          </a:p>
        </p:txBody>
      </p:sp>
      <p:cxnSp>
        <p:nvCxnSpPr>
          <p:cNvPr id="211" name="Google Shape;211;p12"/>
          <p:cNvCxnSpPr/>
          <p:nvPr/>
        </p:nvCxnSpPr>
        <p:spPr>
          <a:xfrm>
            <a:off x="502920" y="868680"/>
            <a:ext cx="8138160" cy="0"/>
          </a:xfrm>
          <a:prstGeom prst="straightConnector1">
            <a:avLst/>
          </a:prstGeom>
          <a:noFill/>
          <a:ln cap="flat" cmpd="sng" w="25400">
            <a:solidFill>
              <a:srgbClr val="1D6FA4"/>
            </a:solidFill>
            <a:prstDash val="solid"/>
            <a:round/>
            <a:headEnd len="sm" w="sm" type="none"/>
            <a:tailEnd len="sm" w="sm" type="none"/>
          </a:ln>
        </p:spPr>
      </p:cxnSp>
      <p:sp>
        <p:nvSpPr>
          <p:cNvPr id="212" name="Google Shape;212;p12"/>
          <p:cNvSpPr/>
          <p:nvPr/>
        </p:nvSpPr>
        <p:spPr>
          <a:xfrm>
            <a:off x="502920" y="1005840"/>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300"/>
              <a:buFont typeface="Trebuchet MS"/>
              <a:buNone/>
            </a:pPr>
            <a:r>
              <a:rPr b="1" i="0" lang="en-US" sz="1300" u="none" cap="none" strike="noStrike">
                <a:solidFill>
                  <a:srgbClr val="1D6FA4"/>
                </a:solidFill>
                <a:latin typeface="Trebuchet MS"/>
                <a:ea typeface="Trebuchet MS"/>
                <a:cs typeface="Trebuchet MS"/>
                <a:sym typeface="Trebuchet MS"/>
              </a:rPr>
              <a:t>The framework</a:t>
            </a:r>
            <a:endParaRPr b="0" i="0" sz="1300" u="none" cap="none" strike="noStrike">
              <a:solidFill>
                <a:schemeClr val="dk1"/>
              </a:solidFill>
              <a:latin typeface="Calibri"/>
              <a:ea typeface="Calibri"/>
              <a:cs typeface="Calibri"/>
              <a:sym typeface="Calibri"/>
            </a:endParaRPr>
          </a:p>
        </p:txBody>
      </p:sp>
      <p:sp>
        <p:nvSpPr>
          <p:cNvPr id="213" name="Google Shape;213;p12"/>
          <p:cNvSpPr/>
          <p:nvPr/>
        </p:nvSpPr>
        <p:spPr>
          <a:xfrm>
            <a:off x="502920" y="1417320"/>
            <a:ext cx="3931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 Privacy Advisory Commission (PAC) review required</a:t>
            </a:r>
            <a:endParaRPr b="0" i="0" sz="1250" u="none" cap="none" strike="noStrike">
              <a:solidFill>
                <a:schemeClr val="dk1"/>
              </a:solidFill>
              <a:latin typeface="Calibri"/>
              <a:ea typeface="Calibri"/>
              <a:cs typeface="Calibri"/>
              <a:sym typeface="Calibri"/>
            </a:endParaRPr>
          </a:p>
        </p:txBody>
      </p:sp>
      <p:sp>
        <p:nvSpPr>
          <p:cNvPr id="214" name="Google Shape;214;p12"/>
          <p:cNvSpPr/>
          <p:nvPr/>
        </p:nvSpPr>
        <p:spPr>
          <a:xfrm>
            <a:off x="502920" y="2057400"/>
            <a:ext cx="3931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 Mandatory approval process before any surveillance deployment</a:t>
            </a:r>
            <a:endParaRPr b="0" i="0" sz="1250" u="none" cap="none" strike="noStrike">
              <a:solidFill>
                <a:schemeClr val="dk1"/>
              </a:solidFill>
              <a:latin typeface="Calibri"/>
              <a:ea typeface="Calibri"/>
              <a:cs typeface="Calibri"/>
              <a:sym typeface="Calibri"/>
            </a:endParaRPr>
          </a:p>
        </p:txBody>
      </p:sp>
      <p:sp>
        <p:nvSpPr>
          <p:cNvPr id="215" name="Google Shape;215;p12"/>
          <p:cNvSpPr/>
          <p:nvPr/>
        </p:nvSpPr>
        <p:spPr>
          <a:xfrm>
            <a:off x="502920" y="2697480"/>
            <a:ext cx="3931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 Public PAC meeting packets with full technology details</a:t>
            </a:r>
            <a:endParaRPr b="0" i="0" sz="1250" u="none" cap="none" strike="noStrike">
              <a:solidFill>
                <a:schemeClr val="dk1"/>
              </a:solidFill>
              <a:latin typeface="Calibri"/>
              <a:ea typeface="Calibri"/>
              <a:cs typeface="Calibri"/>
              <a:sym typeface="Calibri"/>
            </a:endParaRPr>
          </a:p>
        </p:txBody>
      </p:sp>
      <p:sp>
        <p:nvSpPr>
          <p:cNvPr id="216" name="Google Shape;216;p12"/>
          <p:cNvSpPr/>
          <p:nvPr/>
        </p:nvSpPr>
        <p:spPr>
          <a:xfrm>
            <a:off x="502920" y="3337560"/>
            <a:ext cx="3931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 Community-facing documentation standards built into ordinance</a:t>
            </a:r>
            <a:endParaRPr b="0" i="0" sz="1250" u="none" cap="none" strike="noStrike">
              <a:solidFill>
                <a:schemeClr val="dk1"/>
              </a:solidFill>
              <a:latin typeface="Calibri"/>
              <a:ea typeface="Calibri"/>
              <a:cs typeface="Calibri"/>
              <a:sym typeface="Calibri"/>
            </a:endParaRPr>
          </a:p>
        </p:txBody>
      </p:sp>
      <p:cxnSp>
        <p:nvCxnSpPr>
          <p:cNvPr id="217" name="Google Shape;217;p12"/>
          <p:cNvCxnSpPr/>
          <p:nvPr/>
        </p:nvCxnSpPr>
        <p:spPr>
          <a:xfrm>
            <a:off x="4709160" y="960120"/>
            <a:ext cx="0" cy="3931920"/>
          </a:xfrm>
          <a:prstGeom prst="straightConnector1">
            <a:avLst/>
          </a:prstGeom>
          <a:noFill/>
          <a:ln cap="flat" cmpd="sng" w="12700">
            <a:solidFill>
              <a:srgbClr val="D1D5DB"/>
            </a:solidFill>
            <a:prstDash val="solid"/>
            <a:round/>
            <a:headEnd len="sm" w="sm" type="none"/>
            <a:tailEnd len="sm" w="sm" type="none"/>
          </a:ln>
        </p:spPr>
      </p:cxnSp>
      <p:sp>
        <p:nvSpPr>
          <p:cNvPr id="218" name="Google Shape;218;p12"/>
          <p:cNvSpPr/>
          <p:nvPr/>
        </p:nvSpPr>
        <p:spPr>
          <a:xfrm>
            <a:off x="4937760" y="1005840"/>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300"/>
              <a:buFont typeface="Trebuchet MS"/>
              <a:buNone/>
            </a:pPr>
            <a:r>
              <a:rPr b="1" i="0" lang="en-US" sz="1300" u="none" cap="none" strike="noStrike">
                <a:solidFill>
                  <a:srgbClr val="1D6FA4"/>
                </a:solidFill>
                <a:latin typeface="Trebuchet MS"/>
                <a:ea typeface="Trebuchet MS"/>
                <a:cs typeface="Trebuchet MS"/>
                <a:sym typeface="Trebuchet MS"/>
              </a:rPr>
              <a:t>Redish analysis</a:t>
            </a:r>
            <a:endParaRPr b="0" i="0" sz="1300" u="none" cap="none" strike="noStrike">
              <a:solidFill>
                <a:schemeClr val="dk1"/>
              </a:solidFill>
              <a:latin typeface="Calibri"/>
              <a:ea typeface="Calibri"/>
              <a:cs typeface="Calibri"/>
              <a:sym typeface="Calibri"/>
            </a:endParaRPr>
          </a:p>
        </p:txBody>
      </p:sp>
      <p:sp>
        <p:nvSpPr>
          <p:cNvPr id="219" name="Google Shape;219;p12"/>
          <p:cNvSpPr/>
          <p:nvPr/>
        </p:nvSpPr>
        <p:spPr>
          <a:xfrm>
            <a:off x="4937760" y="141732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200"/>
              <a:buFont typeface="Trebuchet MS"/>
              <a:buNone/>
            </a:pPr>
            <a:r>
              <a:rPr b="1" i="0" lang="en-US" sz="1200" u="none" cap="none" strike="noStrike">
                <a:solidFill>
                  <a:srgbClr val="1A1A2E"/>
                </a:solidFill>
                <a:latin typeface="Trebuchet MS"/>
                <a:ea typeface="Trebuchet MS"/>
                <a:cs typeface="Trebuchet MS"/>
                <a:sym typeface="Trebuchet MS"/>
              </a:rPr>
              <a:t>Findability</a:t>
            </a:r>
            <a:endParaRPr b="0" i="0" sz="1200" u="none" cap="none" strike="noStrike">
              <a:solidFill>
                <a:schemeClr val="dk1"/>
              </a:solidFill>
              <a:latin typeface="Calibri"/>
              <a:ea typeface="Calibri"/>
              <a:cs typeface="Calibri"/>
              <a:sym typeface="Calibri"/>
            </a:endParaRPr>
          </a:p>
        </p:txBody>
      </p:sp>
      <p:sp>
        <p:nvSpPr>
          <p:cNvPr id="220" name="Google Shape;220;p12"/>
          <p:cNvSpPr/>
          <p:nvPr/>
        </p:nvSpPr>
        <p:spPr>
          <a:xfrm>
            <a:off x="4937760" y="1709928"/>
            <a:ext cx="374904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00"/>
              <a:buFont typeface="Calibri"/>
              <a:buNone/>
            </a:pPr>
            <a:r>
              <a:rPr b="0" i="0" lang="en-US" sz="1200" u="none" cap="none" strike="noStrike">
                <a:solidFill>
                  <a:srgbClr val="2C2C3E"/>
                </a:solidFill>
                <a:latin typeface="Calibri"/>
                <a:ea typeface="Calibri"/>
                <a:cs typeface="Calibri"/>
                <a:sym typeface="Calibri"/>
              </a:rPr>
              <a:t>PAC meeting packets archived and retrievable through institutional channels. Technology documentation surfaced via formal process.</a:t>
            </a:r>
            <a:endParaRPr b="0" i="0" sz="1200" u="none" cap="none" strike="noStrike">
              <a:solidFill>
                <a:schemeClr val="dk1"/>
              </a:solidFill>
              <a:latin typeface="Calibri"/>
              <a:ea typeface="Calibri"/>
              <a:cs typeface="Calibri"/>
              <a:sym typeface="Calibri"/>
            </a:endParaRPr>
          </a:p>
        </p:txBody>
      </p:sp>
      <p:sp>
        <p:nvSpPr>
          <p:cNvPr id="221" name="Google Shape;221;p12"/>
          <p:cNvSpPr/>
          <p:nvPr/>
        </p:nvSpPr>
        <p:spPr>
          <a:xfrm>
            <a:off x="4937760" y="260604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200"/>
              <a:buFont typeface="Trebuchet MS"/>
              <a:buNone/>
            </a:pPr>
            <a:r>
              <a:rPr b="1" i="0" lang="en-US" sz="1200" u="none" cap="none" strike="noStrike">
                <a:solidFill>
                  <a:srgbClr val="1A1A2E"/>
                </a:solidFill>
                <a:latin typeface="Trebuchet MS"/>
                <a:ea typeface="Trebuchet MS"/>
                <a:cs typeface="Trebuchet MS"/>
                <a:sym typeface="Trebuchet MS"/>
              </a:rPr>
              <a:t>Comprehensibility</a:t>
            </a:r>
            <a:endParaRPr b="0" i="0" sz="1200" u="none" cap="none" strike="noStrike">
              <a:solidFill>
                <a:schemeClr val="dk1"/>
              </a:solidFill>
              <a:latin typeface="Calibri"/>
              <a:ea typeface="Calibri"/>
              <a:cs typeface="Calibri"/>
              <a:sym typeface="Calibri"/>
            </a:endParaRPr>
          </a:p>
        </p:txBody>
      </p:sp>
      <p:sp>
        <p:nvSpPr>
          <p:cNvPr id="222" name="Google Shape;222;p12"/>
          <p:cNvSpPr/>
          <p:nvPr/>
        </p:nvSpPr>
        <p:spPr>
          <a:xfrm>
            <a:off x="4937760" y="2898648"/>
            <a:ext cx="374904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00"/>
              <a:buFont typeface="Calibri"/>
              <a:buNone/>
            </a:pPr>
            <a:r>
              <a:rPr b="0" i="0" lang="en-US" sz="1200" u="none" cap="none" strike="noStrike">
                <a:solidFill>
                  <a:srgbClr val="2C2C3E"/>
                </a:solidFill>
                <a:latin typeface="Calibri"/>
                <a:ea typeface="Calibri"/>
                <a:cs typeface="Calibri"/>
                <a:sym typeface="Calibri"/>
              </a:rPr>
              <a:t>Community-facing documents written for lay audiences; PAC process produces plain-language summaries alongside technical detail.</a:t>
            </a:r>
            <a:endParaRPr b="0" i="0" sz="1200" u="none" cap="none" strike="noStrike">
              <a:solidFill>
                <a:schemeClr val="dk1"/>
              </a:solidFill>
              <a:latin typeface="Calibri"/>
              <a:ea typeface="Calibri"/>
              <a:cs typeface="Calibri"/>
              <a:sym typeface="Calibri"/>
            </a:endParaRPr>
          </a:p>
        </p:txBody>
      </p:sp>
      <p:sp>
        <p:nvSpPr>
          <p:cNvPr id="223" name="Google Shape;223;p12"/>
          <p:cNvSpPr/>
          <p:nvPr/>
        </p:nvSpPr>
        <p:spPr>
          <a:xfrm>
            <a:off x="4937760" y="379476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200"/>
              <a:buFont typeface="Trebuchet MS"/>
              <a:buNone/>
            </a:pPr>
            <a:r>
              <a:rPr b="1" i="0" lang="en-US" sz="1200" u="none" cap="none" strike="noStrike">
                <a:solidFill>
                  <a:srgbClr val="1A1A2E"/>
                </a:solidFill>
                <a:latin typeface="Trebuchet MS"/>
                <a:ea typeface="Trebuchet MS"/>
                <a:cs typeface="Trebuchet MS"/>
                <a:sym typeface="Trebuchet MS"/>
              </a:rPr>
              <a:t>Usability</a:t>
            </a:r>
            <a:endParaRPr b="0" i="0" sz="1200" u="none" cap="none" strike="noStrike">
              <a:solidFill>
                <a:schemeClr val="dk1"/>
              </a:solidFill>
              <a:latin typeface="Calibri"/>
              <a:ea typeface="Calibri"/>
              <a:cs typeface="Calibri"/>
              <a:sym typeface="Calibri"/>
            </a:endParaRPr>
          </a:p>
        </p:txBody>
      </p:sp>
      <p:sp>
        <p:nvSpPr>
          <p:cNvPr id="224" name="Google Shape;224;p12"/>
          <p:cNvSpPr/>
          <p:nvPr/>
        </p:nvSpPr>
        <p:spPr>
          <a:xfrm>
            <a:off x="4937760" y="4087368"/>
            <a:ext cx="374904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00"/>
              <a:buFont typeface="Calibri"/>
              <a:buNone/>
            </a:pPr>
            <a:r>
              <a:rPr b="0" i="0" lang="en-US" sz="1200" u="none" cap="none" strike="noStrike">
                <a:solidFill>
                  <a:srgbClr val="2C2C3E"/>
                </a:solidFill>
                <a:latin typeface="Calibri"/>
                <a:ea typeface="Calibri"/>
                <a:cs typeface="Calibri"/>
                <a:sym typeface="Calibri"/>
              </a:rPr>
              <a:t>Framework explicitly designed to support community action — approval process creates a functional accountability structure.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13"/>
          <p:cNvSpPr/>
          <p:nvPr/>
        </p:nvSpPr>
        <p:spPr>
          <a:xfrm>
            <a:off x="502920" y="32004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200"/>
              <a:buFont typeface="Trebuchet MS"/>
              <a:buNone/>
            </a:pPr>
            <a:r>
              <a:rPr b="1" i="0" lang="en-US" sz="2200" u="none" cap="none" strike="noStrike">
                <a:solidFill>
                  <a:srgbClr val="1A1A2E"/>
                </a:solidFill>
                <a:latin typeface="Trebuchet MS"/>
                <a:ea typeface="Trebuchet MS"/>
                <a:cs typeface="Trebuchet MS"/>
                <a:sym typeface="Trebuchet MS"/>
              </a:rPr>
              <a:t>Cross-Case Analysis</a:t>
            </a:r>
            <a:endParaRPr b="0" i="0" sz="2200" u="none" cap="none" strike="noStrike">
              <a:solidFill>
                <a:schemeClr val="dk1"/>
              </a:solidFill>
              <a:latin typeface="Calibri"/>
              <a:ea typeface="Calibri"/>
              <a:cs typeface="Calibri"/>
              <a:sym typeface="Calibri"/>
            </a:endParaRPr>
          </a:p>
        </p:txBody>
      </p:sp>
      <p:cxnSp>
        <p:nvCxnSpPr>
          <p:cNvPr id="231" name="Google Shape;231;p13"/>
          <p:cNvCxnSpPr/>
          <p:nvPr/>
        </p:nvCxnSpPr>
        <p:spPr>
          <a:xfrm>
            <a:off x="502920" y="868680"/>
            <a:ext cx="8138160" cy="0"/>
          </a:xfrm>
          <a:prstGeom prst="straightConnector1">
            <a:avLst/>
          </a:prstGeom>
          <a:noFill/>
          <a:ln cap="flat" cmpd="sng" w="25400">
            <a:solidFill>
              <a:srgbClr val="1D6FA4"/>
            </a:solidFill>
            <a:prstDash val="solid"/>
            <a:round/>
            <a:headEnd len="sm" w="sm" type="none"/>
            <a:tailEnd len="sm" w="sm" type="none"/>
          </a:ln>
        </p:spPr>
      </p:cxnSp>
      <p:sp>
        <p:nvSpPr>
          <p:cNvPr id="232" name="Google Shape;232;p13"/>
          <p:cNvSpPr/>
          <p:nvPr/>
        </p:nvSpPr>
        <p:spPr>
          <a:xfrm>
            <a:off x="502920" y="1005840"/>
            <a:ext cx="2194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233" name="Google Shape;233;p13"/>
          <p:cNvSpPr/>
          <p:nvPr/>
        </p:nvSpPr>
        <p:spPr>
          <a:xfrm>
            <a:off x="2697480" y="1005840"/>
            <a:ext cx="2103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100"/>
              <a:buFont typeface="Trebuchet MS"/>
              <a:buNone/>
            </a:pPr>
            <a:r>
              <a:rPr b="1" i="0" lang="en-US" sz="1100" u="none" cap="none" strike="noStrike">
                <a:solidFill>
                  <a:srgbClr val="1D6FA4"/>
                </a:solidFill>
                <a:latin typeface="Trebuchet MS"/>
                <a:ea typeface="Trebuchet MS"/>
                <a:cs typeface="Trebuchet MS"/>
                <a:sym typeface="Trebuchet MS"/>
              </a:rPr>
              <a:t>Findability</a:t>
            </a:r>
            <a:endParaRPr b="0" i="0" sz="1100" u="none" cap="none" strike="noStrike">
              <a:solidFill>
                <a:schemeClr val="dk1"/>
              </a:solidFill>
              <a:latin typeface="Calibri"/>
              <a:ea typeface="Calibri"/>
              <a:cs typeface="Calibri"/>
              <a:sym typeface="Calibri"/>
            </a:endParaRPr>
          </a:p>
        </p:txBody>
      </p:sp>
      <p:sp>
        <p:nvSpPr>
          <p:cNvPr id="234" name="Google Shape;234;p13"/>
          <p:cNvSpPr/>
          <p:nvPr/>
        </p:nvSpPr>
        <p:spPr>
          <a:xfrm>
            <a:off x="4800600" y="1005840"/>
            <a:ext cx="2103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100"/>
              <a:buFont typeface="Trebuchet MS"/>
              <a:buNone/>
            </a:pPr>
            <a:r>
              <a:rPr b="1" i="0" lang="en-US" sz="1100" u="none" cap="none" strike="noStrike">
                <a:solidFill>
                  <a:srgbClr val="1D6FA4"/>
                </a:solidFill>
                <a:latin typeface="Trebuchet MS"/>
                <a:ea typeface="Trebuchet MS"/>
                <a:cs typeface="Trebuchet MS"/>
                <a:sym typeface="Trebuchet MS"/>
              </a:rPr>
              <a:t>Comprehensibility</a:t>
            </a:r>
            <a:endParaRPr b="0" i="0" sz="1100" u="none" cap="none" strike="noStrike">
              <a:solidFill>
                <a:schemeClr val="dk1"/>
              </a:solidFill>
              <a:latin typeface="Calibri"/>
              <a:ea typeface="Calibri"/>
              <a:cs typeface="Calibri"/>
              <a:sym typeface="Calibri"/>
            </a:endParaRPr>
          </a:p>
        </p:txBody>
      </p:sp>
      <p:sp>
        <p:nvSpPr>
          <p:cNvPr id="235" name="Google Shape;235;p13"/>
          <p:cNvSpPr/>
          <p:nvPr/>
        </p:nvSpPr>
        <p:spPr>
          <a:xfrm>
            <a:off x="6903720" y="1005840"/>
            <a:ext cx="2103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100"/>
              <a:buFont typeface="Trebuchet MS"/>
              <a:buNone/>
            </a:pPr>
            <a:r>
              <a:rPr b="1" i="0" lang="en-US" sz="1100" u="none" cap="none" strike="noStrike">
                <a:solidFill>
                  <a:srgbClr val="1D6FA4"/>
                </a:solidFill>
                <a:latin typeface="Trebuchet MS"/>
                <a:ea typeface="Trebuchet MS"/>
                <a:cs typeface="Trebuchet MS"/>
                <a:sym typeface="Trebuchet MS"/>
              </a:rPr>
              <a:t>Usability</a:t>
            </a:r>
            <a:endParaRPr b="0" i="0" sz="1100" u="none" cap="none" strike="noStrike">
              <a:solidFill>
                <a:schemeClr val="dk1"/>
              </a:solidFill>
              <a:latin typeface="Calibri"/>
              <a:ea typeface="Calibri"/>
              <a:cs typeface="Calibri"/>
              <a:sym typeface="Calibri"/>
            </a:endParaRPr>
          </a:p>
        </p:txBody>
      </p:sp>
      <p:cxnSp>
        <p:nvCxnSpPr>
          <p:cNvPr id="236" name="Google Shape;236;p13"/>
          <p:cNvCxnSpPr/>
          <p:nvPr/>
        </p:nvCxnSpPr>
        <p:spPr>
          <a:xfrm>
            <a:off x="502920" y="1353312"/>
            <a:ext cx="8138160" cy="0"/>
          </a:xfrm>
          <a:prstGeom prst="straightConnector1">
            <a:avLst/>
          </a:prstGeom>
          <a:noFill/>
          <a:ln cap="flat" cmpd="sng" w="12700">
            <a:solidFill>
              <a:srgbClr val="1A1A2E"/>
            </a:solidFill>
            <a:prstDash val="solid"/>
            <a:round/>
            <a:headEnd len="sm" w="sm" type="none"/>
            <a:tailEnd len="sm" w="sm" type="none"/>
          </a:ln>
        </p:spPr>
      </p:cxnSp>
      <p:sp>
        <p:nvSpPr>
          <p:cNvPr id="237" name="Google Shape;237;p13"/>
          <p:cNvSpPr/>
          <p:nvPr/>
        </p:nvSpPr>
        <p:spPr>
          <a:xfrm>
            <a:off x="502920" y="1444752"/>
            <a:ext cx="21945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200"/>
              <a:buFont typeface="Trebuchet MS"/>
              <a:buNone/>
            </a:pPr>
            <a:r>
              <a:rPr b="1" i="0" lang="en-US" sz="1200" u="none" cap="none" strike="noStrike">
                <a:solidFill>
                  <a:srgbClr val="1A1A2E"/>
                </a:solidFill>
                <a:latin typeface="Trebuchet MS"/>
                <a:ea typeface="Trebuchet MS"/>
                <a:cs typeface="Trebuchet MS"/>
                <a:sym typeface="Trebuchet MS"/>
              </a:rPr>
              <a:t>NC (no framework)</a:t>
            </a:r>
            <a:endParaRPr b="0" i="0" sz="1200" u="none" cap="none" strike="noStrike">
              <a:solidFill>
                <a:schemeClr val="dk1"/>
              </a:solidFill>
              <a:latin typeface="Calibri"/>
              <a:ea typeface="Calibri"/>
              <a:cs typeface="Calibri"/>
              <a:sym typeface="Calibri"/>
            </a:endParaRPr>
          </a:p>
        </p:txBody>
      </p:sp>
      <p:sp>
        <p:nvSpPr>
          <p:cNvPr id="238" name="Google Shape;238;p13"/>
          <p:cNvSpPr/>
          <p:nvPr/>
        </p:nvSpPr>
        <p:spPr>
          <a:xfrm>
            <a:off x="2697480" y="1444752"/>
            <a:ext cx="2103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00"/>
              <a:buFont typeface="Calibri"/>
              <a:buNone/>
            </a:pPr>
            <a:r>
              <a:rPr b="0" i="0" lang="en-US" sz="1200" u="none" cap="none" strike="noStrike">
                <a:solidFill>
                  <a:srgbClr val="2C2C3E"/>
                </a:solidFill>
                <a:latin typeface="Calibri"/>
                <a:ea typeface="Calibri"/>
                <a:cs typeface="Calibri"/>
                <a:sym typeface="Calibri"/>
              </a:rPr>
              <a:t>Absent / misleading</a:t>
            </a:r>
            <a:endParaRPr b="0" i="0" sz="1200" u="none" cap="none" strike="noStrike">
              <a:solidFill>
                <a:schemeClr val="dk1"/>
              </a:solidFill>
              <a:latin typeface="Calibri"/>
              <a:ea typeface="Calibri"/>
              <a:cs typeface="Calibri"/>
              <a:sym typeface="Calibri"/>
            </a:endParaRPr>
          </a:p>
        </p:txBody>
      </p:sp>
      <p:sp>
        <p:nvSpPr>
          <p:cNvPr id="239" name="Google Shape;239;p13"/>
          <p:cNvSpPr/>
          <p:nvPr/>
        </p:nvSpPr>
        <p:spPr>
          <a:xfrm>
            <a:off x="4800600" y="1444752"/>
            <a:ext cx="2103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00"/>
              <a:buFont typeface="Calibri"/>
              <a:buNone/>
            </a:pPr>
            <a:r>
              <a:rPr b="0" i="0" lang="en-US" sz="1200" u="none" cap="none" strike="noStrike">
                <a:solidFill>
                  <a:srgbClr val="2C2C3E"/>
                </a:solidFill>
                <a:latin typeface="Calibri"/>
                <a:ea typeface="Calibri"/>
                <a:cs typeface="Calibri"/>
                <a:sym typeface="Calibri"/>
              </a:rPr>
              <a:t>N/A (Raleigh / Charlotte); Partial — plain language FAQ, Durham (reactive only)</a:t>
            </a:r>
            <a:endParaRPr b="0" i="0" sz="1200" u="none" cap="none" strike="noStrike">
              <a:solidFill>
                <a:schemeClr val="dk1"/>
              </a:solidFill>
              <a:latin typeface="Calibri"/>
              <a:ea typeface="Calibri"/>
              <a:cs typeface="Calibri"/>
              <a:sym typeface="Calibri"/>
            </a:endParaRPr>
          </a:p>
        </p:txBody>
      </p:sp>
      <p:sp>
        <p:nvSpPr>
          <p:cNvPr id="240" name="Google Shape;240;p13"/>
          <p:cNvSpPr/>
          <p:nvPr/>
        </p:nvSpPr>
        <p:spPr>
          <a:xfrm>
            <a:off x="6903720" y="1444752"/>
            <a:ext cx="2103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00"/>
              <a:buFont typeface="Calibri"/>
              <a:buNone/>
            </a:pPr>
            <a:r>
              <a:rPr b="0" i="0" lang="en-US" sz="1200" u="none" cap="none" strike="noStrike">
                <a:solidFill>
                  <a:srgbClr val="2C2C3E"/>
                </a:solidFill>
                <a:latin typeface="Calibri"/>
                <a:ea typeface="Calibri"/>
                <a:cs typeface="Calibri"/>
                <a:sym typeface="Calibri"/>
              </a:rPr>
              <a:t>N/A (Raleigh / Charlotte); Low — no ongoing pathway, Durham (reactive only)</a:t>
            </a:r>
            <a:endParaRPr b="0" i="0" sz="1200" u="none" cap="none" strike="noStrike">
              <a:solidFill>
                <a:schemeClr val="dk1"/>
              </a:solidFill>
              <a:latin typeface="Calibri"/>
              <a:ea typeface="Calibri"/>
              <a:cs typeface="Calibri"/>
              <a:sym typeface="Calibri"/>
            </a:endParaRPr>
          </a:p>
        </p:txBody>
      </p:sp>
      <p:cxnSp>
        <p:nvCxnSpPr>
          <p:cNvPr id="241" name="Google Shape;241;p13"/>
          <p:cNvCxnSpPr/>
          <p:nvPr/>
        </p:nvCxnSpPr>
        <p:spPr>
          <a:xfrm>
            <a:off x="502920" y="2066544"/>
            <a:ext cx="8138160" cy="0"/>
          </a:xfrm>
          <a:prstGeom prst="straightConnector1">
            <a:avLst/>
          </a:prstGeom>
          <a:noFill/>
          <a:ln cap="flat" cmpd="sng" w="9525">
            <a:solidFill>
              <a:srgbClr val="D1D5DB"/>
            </a:solidFill>
            <a:prstDash val="solid"/>
            <a:round/>
            <a:headEnd len="sm" w="sm" type="none"/>
            <a:tailEnd len="sm" w="sm" type="none"/>
          </a:ln>
        </p:spPr>
      </p:cxnSp>
      <p:sp>
        <p:nvSpPr>
          <p:cNvPr id="242" name="Google Shape;242;p13"/>
          <p:cNvSpPr/>
          <p:nvPr/>
        </p:nvSpPr>
        <p:spPr>
          <a:xfrm>
            <a:off x="502920" y="2157984"/>
            <a:ext cx="21945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200"/>
              <a:buFont typeface="Trebuchet MS"/>
              <a:buNone/>
            </a:pPr>
            <a:r>
              <a:rPr b="1" i="0" lang="en-US" sz="1200" u="none" cap="none" strike="noStrike">
                <a:solidFill>
                  <a:srgbClr val="1A1A2E"/>
                </a:solidFill>
                <a:latin typeface="Trebuchet MS"/>
                <a:ea typeface="Trebuchet MS"/>
                <a:cs typeface="Trebuchet MS"/>
                <a:sym typeface="Trebuchet MS"/>
              </a:rPr>
              <a:t>Seattle (SMC 14.18)</a:t>
            </a:r>
            <a:endParaRPr b="0" i="0" sz="1200" u="none" cap="none" strike="noStrike">
              <a:solidFill>
                <a:schemeClr val="dk1"/>
              </a:solidFill>
              <a:latin typeface="Calibri"/>
              <a:ea typeface="Calibri"/>
              <a:cs typeface="Calibri"/>
              <a:sym typeface="Calibri"/>
            </a:endParaRPr>
          </a:p>
        </p:txBody>
      </p:sp>
      <p:sp>
        <p:nvSpPr>
          <p:cNvPr id="243" name="Google Shape;243;p13"/>
          <p:cNvSpPr/>
          <p:nvPr/>
        </p:nvSpPr>
        <p:spPr>
          <a:xfrm>
            <a:off x="2697480" y="2157984"/>
            <a:ext cx="2103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00"/>
              <a:buFont typeface="Calibri"/>
              <a:buNone/>
            </a:pPr>
            <a:r>
              <a:rPr b="0" i="0" lang="en-US" sz="1200" u="none" cap="none" strike="noStrike">
                <a:solidFill>
                  <a:srgbClr val="2C2C3E"/>
                </a:solidFill>
                <a:latin typeface="Calibri"/>
                <a:ea typeface="Calibri"/>
                <a:cs typeface="Calibri"/>
                <a:sym typeface="Calibri"/>
              </a:rPr>
              <a:t>Consistent / reliable</a:t>
            </a:r>
            <a:endParaRPr b="0" i="0" sz="1200" u="none" cap="none" strike="noStrike">
              <a:solidFill>
                <a:schemeClr val="dk1"/>
              </a:solidFill>
              <a:latin typeface="Calibri"/>
              <a:ea typeface="Calibri"/>
              <a:cs typeface="Calibri"/>
              <a:sym typeface="Calibri"/>
            </a:endParaRPr>
          </a:p>
        </p:txBody>
      </p:sp>
      <p:sp>
        <p:nvSpPr>
          <p:cNvPr id="244" name="Google Shape;244;p13"/>
          <p:cNvSpPr/>
          <p:nvPr/>
        </p:nvSpPr>
        <p:spPr>
          <a:xfrm>
            <a:off x="4800600" y="2157984"/>
            <a:ext cx="2103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00"/>
              <a:buFont typeface="Calibri"/>
              <a:buNone/>
            </a:pPr>
            <a:r>
              <a:rPr b="0" i="0" lang="en-US" sz="1200" u="none" cap="none" strike="noStrike">
                <a:solidFill>
                  <a:srgbClr val="2C2C3E"/>
                </a:solidFill>
                <a:latin typeface="Calibri"/>
                <a:ea typeface="Calibri"/>
                <a:cs typeface="Calibri"/>
                <a:sym typeface="Calibri"/>
              </a:rPr>
              <a:t>Structured templates</a:t>
            </a:r>
            <a:endParaRPr b="0" i="0" sz="1200" u="none" cap="none" strike="noStrike">
              <a:solidFill>
                <a:schemeClr val="dk1"/>
              </a:solidFill>
              <a:latin typeface="Calibri"/>
              <a:ea typeface="Calibri"/>
              <a:cs typeface="Calibri"/>
              <a:sym typeface="Calibri"/>
            </a:endParaRPr>
          </a:p>
        </p:txBody>
      </p:sp>
      <p:sp>
        <p:nvSpPr>
          <p:cNvPr id="245" name="Google Shape;245;p13"/>
          <p:cNvSpPr/>
          <p:nvPr/>
        </p:nvSpPr>
        <p:spPr>
          <a:xfrm>
            <a:off x="6903720" y="2157984"/>
            <a:ext cx="2103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00"/>
              <a:buFont typeface="Calibri"/>
              <a:buNone/>
            </a:pPr>
            <a:r>
              <a:rPr b="0" i="0" lang="en-US" sz="1200" u="none" cap="none" strike="noStrike">
                <a:solidFill>
                  <a:srgbClr val="2C2C3E"/>
                </a:solidFill>
                <a:latin typeface="Calibri"/>
                <a:ea typeface="Calibri"/>
                <a:cs typeface="Calibri"/>
                <a:sym typeface="Calibri"/>
              </a:rPr>
              <a:t>Action-oriented</a:t>
            </a:r>
            <a:endParaRPr b="0" i="0" sz="1200" u="none" cap="none" strike="noStrike">
              <a:solidFill>
                <a:schemeClr val="dk1"/>
              </a:solidFill>
              <a:latin typeface="Calibri"/>
              <a:ea typeface="Calibri"/>
              <a:cs typeface="Calibri"/>
              <a:sym typeface="Calibri"/>
            </a:endParaRPr>
          </a:p>
        </p:txBody>
      </p:sp>
      <p:cxnSp>
        <p:nvCxnSpPr>
          <p:cNvPr id="246" name="Google Shape;246;p13"/>
          <p:cNvCxnSpPr/>
          <p:nvPr/>
        </p:nvCxnSpPr>
        <p:spPr>
          <a:xfrm>
            <a:off x="502920" y="2779776"/>
            <a:ext cx="8138160" cy="0"/>
          </a:xfrm>
          <a:prstGeom prst="straightConnector1">
            <a:avLst/>
          </a:prstGeom>
          <a:noFill/>
          <a:ln cap="flat" cmpd="sng" w="9525">
            <a:solidFill>
              <a:srgbClr val="D1D5DB"/>
            </a:solidFill>
            <a:prstDash val="solid"/>
            <a:round/>
            <a:headEnd len="sm" w="sm" type="none"/>
            <a:tailEnd len="sm" w="sm" type="none"/>
          </a:ln>
        </p:spPr>
      </p:cxnSp>
      <p:sp>
        <p:nvSpPr>
          <p:cNvPr id="247" name="Google Shape;247;p13"/>
          <p:cNvSpPr/>
          <p:nvPr/>
        </p:nvSpPr>
        <p:spPr>
          <a:xfrm>
            <a:off x="502920" y="2871216"/>
            <a:ext cx="21945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200"/>
              <a:buFont typeface="Trebuchet MS"/>
              <a:buNone/>
            </a:pPr>
            <a:r>
              <a:rPr b="1" i="0" lang="en-US" sz="1200" u="none" cap="none" strike="noStrike">
                <a:solidFill>
                  <a:srgbClr val="1A1A2E"/>
                </a:solidFill>
                <a:latin typeface="Trebuchet MS"/>
                <a:ea typeface="Trebuchet MS"/>
                <a:cs typeface="Trebuchet MS"/>
                <a:sym typeface="Trebuchet MS"/>
              </a:rPr>
              <a:t>Oakland (OMC 9.64)</a:t>
            </a:r>
            <a:endParaRPr b="0" i="0" sz="1200" u="none" cap="none" strike="noStrike">
              <a:solidFill>
                <a:schemeClr val="dk1"/>
              </a:solidFill>
              <a:latin typeface="Calibri"/>
              <a:ea typeface="Calibri"/>
              <a:cs typeface="Calibri"/>
              <a:sym typeface="Calibri"/>
            </a:endParaRPr>
          </a:p>
        </p:txBody>
      </p:sp>
      <p:sp>
        <p:nvSpPr>
          <p:cNvPr id="248" name="Google Shape;248;p13"/>
          <p:cNvSpPr/>
          <p:nvPr/>
        </p:nvSpPr>
        <p:spPr>
          <a:xfrm>
            <a:off x="2697480" y="2871216"/>
            <a:ext cx="2103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00"/>
              <a:buFont typeface="Calibri"/>
              <a:buNone/>
            </a:pPr>
            <a:r>
              <a:rPr b="0" i="0" lang="en-US" sz="1200" u="none" cap="none" strike="noStrike">
                <a:solidFill>
                  <a:srgbClr val="2C2C3E"/>
                </a:solidFill>
                <a:latin typeface="Calibri"/>
                <a:ea typeface="Calibri"/>
                <a:cs typeface="Calibri"/>
                <a:sym typeface="Calibri"/>
              </a:rPr>
              <a:t>Institutionally surfaced</a:t>
            </a:r>
            <a:endParaRPr b="0" i="0" sz="1200" u="none" cap="none" strike="noStrike">
              <a:solidFill>
                <a:schemeClr val="dk1"/>
              </a:solidFill>
              <a:latin typeface="Calibri"/>
              <a:ea typeface="Calibri"/>
              <a:cs typeface="Calibri"/>
              <a:sym typeface="Calibri"/>
            </a:endParaRPr>
          </a:p>
        </p:txBody>
      </p:sp>
      <p:sp>
        <p:nvSpPr>
          <p:cNvPr id="249" name="Google Shape;249;p13"/>
          <p:cNvSpPr/>
          <p:nvPr/>
        </p:nvSpPr>
        <p:spPr>
          <a:xfrm>
            <a:off x="4800600" y="2871216"/>
            <a:ext cx="2103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00"/>
              <a:buFont typeface="Calibri"/>
              <a:buNone/>
            </a:pPr>
            <a:r>
              <a:rPr b="0" i="0" lang="en-US" sz="1200" u="none" cap="none" strike="noStrike">
                <a:solidFill>
                  <a:srgbClr val="2C2C3E"/>
                </a:solidFill>
                <a:latin typeface="Calibri"/>
                <a:ea typeface="Calibri"/>
                <a:cs typeface="Calibri"/>
                <a:sym typeface="Calibri"/>
              </a:rPr>
              <a:t>Plain language</a:t>
            </a:r>
            <a:endParaRPr b="0" i="0" sz="1200" u="none" cap="none" strike="noStrike">
              <a:solidFill>
                <a:schemeClr val="dk1"/>
              </a:solidFill>
              <a:latin typeface="Calibri"/>
              <a:ea typeface="Calibri"/>
              <a:cs typeface="Calibri"/>
              <a:sym typeface="Calibri"/>
            </a:endParaRPr>
          </a:p>
        </p:txBody>
      </p:sp>
      <p:sp>
        <p:nvSpPr>
          <p:cNvPr id="250" name="Google Shape;250;p13"/>
          <p:cNvSpPr/>
          <p:nvPr/>
        </p:nvSpPr>
        <p:spPr>
          <a:xfrm>
            <a:off x="6903720" y="2871216"/>
            <a:ext cx="2103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00"/>
              <a:buFont typeface="Calibri"/>
              <a:buNone/>
            </a:pPr>
            <a:r>
              <a:rPr b="0" i="0" lang="en-US" sz="1200" u="none" cap="none" strike="noStrike">
                <a:solidFill>
                  <a:srgbClr val="2C2C3E"/>
                </a:solidFill>
                <a:latin typeface="Calibri"/>
                <a:ea typeface="Calibri"/>
                <a:cs typeface="Calibri"/>
                <a:sym typeface="Calibri"/>
              </a:rPr>
              <a:t>Accountability-driven</a:t>
            </a:r>
            <a:endParaRPr b="0" i="0" sz="1200" u="none" cap="none" strike="noStrike">
              <a:solidFill>
                <a:schemeClr val="dk1"/>
              </a:solidFill>
              <a:latin typeface="Calibri"/>
              <a:ea typeface="Calibri"/>
              <a:cs typeface="Calibri"/>
              <a:sym typeface="Calibri"/>
            </a:endParaRPr>
          </a:p>
        </p:txBody>
      </p:sp>
      <p:cxnSp>
        <p:nvCxnSpPr>
          <p:cNvPr id="251" name="Google Shape;251;p13"/>
          <p:cNvCxnSpPr/>
          <p:nvPr/>
        </p:nvCxnSpPr>
        <p:spPr>
          <a:xfrm>
            <a:off x="502920" y="3493008"/>
            <a:ext cx="8138160" cy="0"/>
          </a:xfrm>
          <a:prstGeom prst="straightConnector1">
            <a:avLst/>
          </a:prstGeom>
          <a:noFill/>
          <a:ln cap="flat" cmpd="sng" w="9525">
            <a:solidFill>
              <a:srgbClr val="D1D5DB"/>
            </a:solidFill>
            <a:prstDash val="solid"/>
            <a:round/>
            <a:headEnd len="sm" w="sm" type="none"/>
            <a:tailEnd len="sm" w="sm" type="none"/>
          </a:ln>
        </p:spPr>
      </p:cxnSp>
      <p:sp>
        <p:nvSpPr>
          <p:cNvPr id="252" name="Google Shape;252;p13"/>
          <p:cNvSpPr/>
          <p:nvPr/>
        </p:nvSpPr>
        <p:spPr>
          <a:xfrm>
            <a:off x="502920" y="37673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100"/>
              <a:buFont typeface="Trebuchet MS"/>
              <a:buNone/>
            </a:pPr>
            <a:r>
              <a:rPr b="1" i="0" lang="en-US" sz="1100" u="none" cap="none" strike="noStrike">
                <a:solidFill>
                  <a:srgbClr val="1D6FA4"/>
                </a:solidFill>
                <a:latin typeface="Trebuchet MS"/>
                <a:ea typeface="Trebuchet MS"/>
                <a:cs typeface="Trebuchet MS"/>
                <a:sym typeface="Trebuchet MS"/>
              </a:rPr>
              <a:t>Note: Raleigh AI assistant</a:t>
            </a:r>
            <a:endParaRPr b="0" i="0" sz="1100" u="none" cap="none" strike="noStrike">
              <a:solidFill>
                <a:schemeClr val="dk1"/>
              </a:solidFill>
              <a:latin typeface="Calibri"/>
              <a:ea typeface="Calibri"/>
              <a:cs typeface="Calibri"/>
              <a:sym typeface="Calibri"/>
            </a:endParaRPr>
          </a:p>
        </p:txBody>
      </p:sp>
      <p:sp>
        <p:nvSpPr>
          <p:cNvPr id="253" name="Google Shape;253;p13"/>
          <p:cNvSpPr/>
          <p:nvPr/>
        </p:nvSpPr>
        <p:spPr>
          <a:xfrm>
            <a:off x="502920" y="4050792"/>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00"/>
              <a:buFont typeface="Calibri"/>
              <a:buNone/>
            </a:pPr>
            <a:r>
              <a:rPr b="0" i="0" lang="en-US" sz="1200" u="none" cap="none" strike="noStrike">
                <a:solidFill>
                  <a:srgbClr val="2C2C3E"/>
                </a:solidFill>
                <a:latin typeface="Calibri"/>
                <a:ea typeface="Calibri"/>
                <a:cs typeface="Calibri"/>
                <a:sym typeface="Calibri"/>
              </a:rPr>
              <a:t>The Raleigh city AI assistant returned a fabricated Clearview AI description linked to an unrelated document, revealing a third category beyond results/no-results: AI-generated misinformation. This is analytically distinct from silence and represents a compounded findability failure.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 name="Shape 258"/>
        <p:cNvGrpSpPr/>
        <p:nvPr/>
      </p:nvGrpSpPr>
      <p:grpSpPr>
        <a:xfrm>
          <a:off x="0" y="0"/>
          <a:ext cx="0" cy="0"/>
          <a:chOff x="0" y="0"/>
          <a:chExt cx="0" cy="0"/>
        </a:xfrm>
      </p:grpSpPr>
      <p:sp>
        <p:nvSpPr>
          <p:cNvPr id="259" name="Google Shape;259;p14"/>
          <p:cNvSpPr/>
          <p:nvPr/>
        </p:nvSpPr>
        <p:spPr>
          <a:xfrm>
            <a:off x="502920" y="32004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200"/>
              <a:buFont typeface="Trebuchet MS"/>
              <a:buNone/>
            </a:pPr>
            <a:r>
              <a:rPr b="1" i="0" lang="en-US" sz="2200" u="none" cap="none" strike="noStrike">
                <a:solidFill>
                  <a:srgbClr val="1A1A2E"/>
                </a:solidFill>
                <a:latin typeface="Trebuchet MS"/>
                <a:ea typeface="Trebuchet MS"/>
                <a:cs typeface="Trebuchet MS"/>
                <a:sym typeface="Trebuchet MS"/>
              </a:rPr>
              <a:t>Limitations</a:t>
            </a:r>
            <a:endParaRPr b="0" i="0" sz="2200" u="none" cap="none" strike="noStrike">
              <a:solidFill>
                <a:schemeClr val="dk1"/>
              </a:solidFill>
              <a:latin typeface="Calibri"/>
              <a:ea typeface="Calibri"/>
              <a:cs typeface="Calibri"/>
              <a:sym typeface="Calibri"/>
            </a:endParaRPr>
          </a:p>
        </p:txBody>
      </p:sp>
      <p:cxnSp>
        <p:nvCxnSpPr>
          <p:cNvPr id="260" name="Google Shape;260;p14"/>
          <p:cNvCxnSpPr/>
          <p:nvPr/>
        </p:nvCxnSpPr>
        <p:spPr>
          <a:xfrm>
            <a:off x="502920" y="868680"/>
            <a:ext cx="8138160" cy="0"/>
          </a:xfrm>
          <a:prstGeom prst="straightConnector1">
            <a:avLst/>
          </a:prstGeom>
          <a:noFill/>
          <a:ln cap="flat" cmpd="sng" w="25400">
            <a:solidFill>
              <a:srgbClr val="1D6FA4"/>
            </a:solidFill>
            <a:prstDash val="solid"/>
            <a:round/>
            <a:headEnd len="sm" w="sm" type="none"/>
            <a:tailEnd len="sm" w="sm" type="none"/>
          </a:ln>
        </p:spPr>
      </p:cxnSp>
      <p:sp>
        <p:nvSpPr>
          <p:cNvPr id="261" name="Google Shape;261;p14"/>
          <p:cNvSpPr/>
          <p:nvPr/>
        </p:nvSpPr>
        <p:spPr>
          <a:xfrm>
            <a:off x="502920" y="987552"/>
            <a:ext cx="81381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Acknowledged constraints on scope and generalizability:</a:t>
            </a:r>
            <a:endParaRPr b="0" i="0" sz="1300" u="none" cap="none" strike="noStrike">
              <a:solidFill>
                <a:schemeClr val="dk1"/>
              </a:solidFill>
              <a:latin typeface="Calibri"/>
              <a:ea typeface="Calibri"/>
              <a:cs typeface="Calibri"/>
              <a:sym typeface="Calibri"/>
            </a:endParaRPr>
          </a:p>
        </p:txBody>
      </p:sp>
      <p:sp>
        <p:nvSpPr>
          <p:cNvPr id="262" name="Google Shape;262;p14"/>
          <p:cNvSpPr/>
          <p:nvPr/>
        </p:nvSpPr>
        <p:spPr>
          <a:xfrm>
            <a:off x="502920" y="1463040"/>
            <a:ext cx="8138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200"/>
              <a:buFont typeface="Trebuchet MS"/>
              <a:buNone/>
            </a:pPr>
            <a:r>
              <a:rPr b="1" i="0" lang="en-US" sz="1200" u="none" cap="none" strike="noStrike">
                <a:solidFill>
                  <a:srgbClr val="1D6FA4"/>
                </a:solidFill>
                <a:latin typeface="Trebuchet MS"/>
                <a:ea typeface="Trebuchet MS"/>
                <a:cs typeface="Trebuchet MS"/>
                <a:sym typeface="Trebuchet MS"/>
              </a:rPr>
              <a:t>Methodological asymmetry</a:t>
            </a:r>
            <a:endParaRPr b="0" i="0" sz="1200" u="none" cap="none" strike="noStrike">
              <a:solidFill>
                <a:schemeClr val="dk1"/>
              </a:solidFill>
              <a:latin typeface="Calibri"/>
              <a:ea typeface="Calibri"/>
              <a:cs typeface="Calibri"/>
              <a:sym typeface="Calibri"/>
            </a:endParaRPr>
          </a:p>
        </p:txBody>
      </p:sp>
      <p:sp>
        <p:nvSpPr>
          <p:cNvPr id="263" name="Google Shape;263;p14"/>
          <p:cNvSpPr/>
          <p:nvPr/>
        </p:nvSpPr>
        <p:spPr>
          <a:xfrm>
            <a:off x="502920" y="1773936"/>
            <a:ext cx="81381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The NC case draws on three agencies; Seattle and Oakland each provide one. This asymmetry was deliberate — NC agencies are analyzed as a single framework-level case — but it limits direct agency-to-agency comparison.</a:t>
            </a:r>
            <a:endParaRPr b="0" i="0" sz="1250" u="none" cap="none" strike="noStrike">
              <a:solidFill>
                <a:schemeClr val="dk1"/>
              </a:solidFill>
              <a:latin typeface="Calibri"/>
              <a:ea typeface="Calibri"/>
              <a:cs typeface="Calibri"/>
              <a:sym typeface="Calibri"/>
            </a:endParaRPr>
          </a:p>
        </p:txBody>
      </p:sp>
      <p:cxnSp>
        <p:nvCxnSpPr>
          <p:cNvPr id="264" name="Google Shape;264;p14"/>
          <p:cNvCxnSpPr/>
          <p:nvPr/>
        </p:nvCxnSpPr>
        <p:spPr>
          <a:xfrm>
            <a:off x="502920" y="2505456"/>
            <a:ext cx="8138160" cy="0"/>
          </a:xfrm>
          <a:prstGeom prst="straightConnector1">
            <a:avLst/>
          </a:prstGeom>
          <a:noFill/>
          <a:ln cap="flat" cmpd="sng" w="9525">
            <a:solidFill>
              <a:srgbClr val="D1D5DB"/>
            </a:solidFill>
            <a:prstDash val="solid"/>
            <a:round/>
            <a:headEnd len="sm" w="sm" type="none"/>
            <a:tailEnd len="sm" w="sm" type="none"/>
          </a:ln>
        </p:spPr>
      </p:cxnSp>
      <p:sp>
        <p:nvSpPr>
          <p:cNvPr id="265" name="Google Shape;265;p14"/>
          <p:cNvSpPr/>
          <p:nvPr/>
        </p:nvSpPr>
        <p:spPr>
          <a:xfrm>
            <a:off x="502920" y="2606040"/>
            <a:ext cx="8138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200"/>
              <a:buFont typeface="Trebuchet MS"/>
              <a:buNone/>
            </a:pPr>
            <a:r>
              <a:rPr b="1" i="0" lang="en-US" sz="1200" u="none" cap="none" strike="noStrike">
                <a:solidFill>
                  <a:srgbClr val="1D6FA4"/>
                </a:solidFill>
                <a:latin typeface="Trebuchet MS"/>
                <a:ea typeface="Trebuchet MS"/>
                <a:cs typeface="Trebuchet MS"/>
                <a:sym typeface="Trebuchet MS"/>
              </a:rPr>
              <a:t>Single-researcher coding</a:t>
            </a:r>
            <a:endParaRPr b="0" i="0" sz="1200" u="none" cap="none" strike="noStrike">
              <a:solidFill>
                <a:schemeClr val="dk1"/>
              </a:solidFill>
              <a:latin typeface="Calibri"/>
              <a:ea typeface="Calibri"/>
              <a:cs typeface="Calibri"/>
              <a:sym typeface="Calibri"/>
            </a:endParaRPr>
          </a:p>
        </p:txBody>
      </p:sp>
      <p:sp>
        <p:nvSpPr>
          <p:cNvPr id="266" name="Google Shape;266;p14"/>
          <p:cNvSpPr/>
          <p:nvPr/>
        </p:nvSpPr>
        <p:spPr>
          <a:xfrm>
            <a:off x="502920" y="2916936"/>
            <a:ext cx="81381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All document analysis was conducted by one researcher. Inter-rater reliability was not established. Findings reflect a single, documented interpretive process rather than validated consensus coding.</a:t>
            </a:r>
            <a:endParaRPr b="0" i="0" sz="1250" u="none" cap="none" strike="noStrike">
              <a:solidFill>
                <a:schemeClr val="dk1"/>
              </a:solidFill>
              <a:latin typeface="Calibri"/>
              <a:ea typeface="Calibri"/>
              <a:cs typeface="Calibri"/>
              <a:sym typeface="Calibri"/>
            </a:endParaRPr>
          </a:p>
        </p:txBody>
      </p:sp>
      <p:cxnSp>
        <p:nvCxnSpPr>
          <p:cNvPr id="267" name="Google Shape;267;p14"/>
          <p:cNvCxnSpPr/>
          <p:nvPr/>
        </p:nvCxnSpPr>
        <p:spPr>
          <a:xfrm>
            <a:off x="502920" y="3648456"/>
            <a:ext cx="8138160" cy="0"/>
          </a:xfrm>
          <a:prstGeom prst="straightConnector1">
            <a:avLst/>
          </a:prstGeom>
          <a:noFill/>
          <a:ln cap="flat" cmpd="sng" w="9525">
            <a:solidFill>
              <a:srgbClr val="D1D5DB"/>
            </a:solidFill>
            <a:prstDash val="solid"/>
            <a:round/>
            <a:headEnd len="sm" w="sm" type="none"/>
            <a:tailEnd len="sm" w="sm" type="none"/>
          </a:ln>
        </p:spPr>
      </p:cxnSp>
      <p:sp>
        <p:nvSpPr>
          <p:cNvPr id="268" name="Google Shape;268;p14"/>
          <p:cNvSpPr/>
          <p:nvPr/>
        </p:nvSpPr>
        <p:spPr>
          <a:xfrm>
            <a:off x="502920" y="3749040"/>
            <a:ext cx="8138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200"/>
              <a:buFont typeface="Trebuchet MS"/>
              <a:buNone/>
            </a:pPr>
            <a:r>
              <a:rPr b="1" i="0" lang="en-US" sz="1200" u="none" cap="none" strike="noStrike">
                <a:solidFill>
                  <a:srgbClr val="1D6FA4"/>
                </a:solidFill>
                <a:latin typeface="Trebuchet MS"/>
                <a:ea typeface="Trebuchet MS"/>
                <a:cs typeface="Trebuchet MS"/>
                <a:sym typeface="Trebuchet MS"/>
              </a:rPr>
              <a:t>Reproducibility caveats</a:t>
            </a:r>
            <a:endParaRPr b="0" i="0" sz="1200" u="none" cap="none" strike="noStrike">
              <a:solidFill>
                <a:schemeClr val="dk1"/>
              </a:solidFill>
              <a:latin typeface="Calibri"/>
              <a:ea typeface="Calibri"/>
              <a:cs typeface="Calibri"/>
              <a:sym typeface="Calibri"/>
            </a:endParaRPr>
          </a:p>
        </p:txBody>
      </p:sp>
      <p:sp>
        <p:nvSpPr>
          <p:cNvPr id="269" name="Google Shape;269;p14"/>
          <p:cNvSpPr/>
          <p:nvPr/>
        </p:nvSpPr>
        <p:spPr>
          <a:xfrm>
            <a:off x="502920" y="4059936"/>
            <a:ext cx="81381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Search results and document availability may change over time. The Raleigh AI assistant finding in particular reflects a specific snapshot — the tool's behavior may differ in future searches. ClickPath documentation preserves the research record.</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 name="Shape 274"/>
        <p:cNvGrpSpPr/>
        <p:nvPr/>
      </p:nvGrpSpPr>
      <p:grpSpPr>
        <a:xfrm>
          <a:off x="0" y="0"/>
          <a:ext cx="0" cy="0"/>
          <a:chOff x="0" y="0"/>
          <a:chExt cx="0" cy="0"/>
        </a:xfrm>
      </p:grpSpPr>
      <p:sp>
        <p:nvSpPr>
          <p:cNvPr id="275" name="Google Shape;275;p15"/>
          <p:cNvSpPr/>
          <p:nvPr/>
        </p:nvSpPr>
        <p:spPr>
          <a:xfrm>
            <a:off x="502920" y="32004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2200"/>
              <a:buFont typeface="Trebuchet MS"/>
              <a:buNone/>
            </a:pPr>
            <a:r>
              <a:rPr b="1" i="0" lang="en-US" sz="2200" u="none" cap="none" strike="noStrike">
                <a:solidFill>
                  <a:srgbClr val="1A1A2E"/>
                </a:solidFill>
                <a:latin typeface="Trebuchet MS"/>
                <a:ea typeface="Trebuchet MS"/>
                <a:cs typeface="Trebuchet MS"/>
                <a:sym typeface="Trebuchet MS"/>
              </a:rPr>
              <a:t>Implications</a:t>
            </a:r>
            <a:endParaRPr b="0" i="0" sz="2200" u="none" cap="none" strike="noStrike">
              <a:solidFill>
                <a:schemeClr val="dk1"/>
              </a:solidFill>
              <a:latin typeface="Calibri"/>
              <a:ea typeface="Calibri"/>
              <a:cs typeface="Calibri"/>
              <a:sym typeface="Calibri"/>
            </a:endParaRPr>
          </a:p>
        </p:txBody>
      </p:sp>
      <p:cxnSp>
        <p:nvCxnSpPr>
          <p:cNvPr id="276" name="Google Shape;276;p15"/>
          <p:cNvCxnSpPr/>
          <p:nvPr/>
        </p:nvCxnSpPr>
        <p:spPr>
          <a:xfrm>
            <a:off x="502920" y="868680"/>
            <a:ext cx="8138160" cy="0"/>
          </a:xfrm>
          <a:prstGeom prst="straightConnector1">
            <a:avLst/>
          </a:prstGeom>
          <a:noFill/>
          <a:ln cap="flat" cmpd="sng" w="25400">
            <a:solidFill>
              <a:srgbClr val="1D6FA4"/>
            </a:solidFill>
            <a:prstDash val="solid"/>
            <a:round/>
            <a:headEnd len="sm" w="sm" type="none"/>
            <a:tailEnd len="sm" w="sm" type="none"/>
          </a:ln>
        </p:spPr>
      </p:cxnSp>
      <p:sp>
        <p:nvSpPr>
          <p:cNvPr id="277" name="Google Shape;277;p15"/>
          <p:cNvSpPr/>
          <p:nvPr/>
        </p:nvSpPr>
        <p:spPr>
          <a:xfrm>
            <a:off x="502920" y="1463040"/>
            <a:ext cx="8138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200"/>
              <a:buFont typeface="Trebuchet MS"/>
              <a:buNone/>
            </a:pPr>
            <a:r>
              <a:rPr b="1" i="0" lang="en-US" sz="1200" u="none" cap="none" strike="noStrike">
                <a:solidFill>
                  <a:srgbClr val="1D6FA4"/>
                </a:solidFill>
                <a:latin typeface="Trebuchet MS"/>
                <a:ea typeface="Trebuchet MS"/>
                <a:cs typeface="Trebuchet MS"/>
                <a:sym typeface="Trebuchet MS"/>
              </a:rPr>
              <a:t>For technical communication practitioners</a:t>
            </a:r>
            <a:endParaRPr b="0" i="0" sz="1200" u="none" cap="none" strike="noStrike">
              <a:solidFill>
                <a:schemeClr val="dk1"/>
              </a:solidFill>
              <a:latin typeface="Calibri"/>
              <a:ea typeface="Calibri"/>
              <a:cs typeface="Calibri"/>
              <a:sym typeface="Calibri"/>
            </a:endParaRPr>
          </a:p>
        </p:txBody>
      </p:sp>
      <p:sp>
        <p:nvSpPr>
          <p:cNvPr id="278" name="Google Shape;278;p15"/>
          <p:cNvSpPr/>
          <p:nvPr/>
        </p:nvSpPr>
        <p:spPr>
          <a:xfrm>
            <a:off x="502920" y="1773936"/>
            <a:ext cx="81381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Redish's model travels well outside traditional TC contexts. This study demonstrates it can be applied to government AI disclosure documents with minimal adaptation — offering practitioners a ready-made evaluation tool.</a:t>
            </a:r>
            <a:endParaRPr b="0" i="0" sz="1250" u="none" cap="none" strike="noStrike">
              <a:solidFill>
                <a:schemeClr val="dk1"/>
              </a:solidFill>
              <a:latin typeface="Calibri"/>
              <a:ea typeface="Calibri"/>
              <a:cs typeface="Calibri"/>
              <a:sym typeface="Calibri"/>
            </a:endParaRPr>
          </a:p>
        </p:txBody>
      </p:sp>
      <p:cxnSp>
        <p:nvCxnSpPr>
          <p:cNvPr id="279" name="Google Shape;279;p15"/>
          <p:cNvCxnSpPr/>
          <p:nvPr/>
        </p:nvCxnSpPr>
        <p:spPr>
          <a:xfrm>
            <a:off x="502920" y="2505456"/>
            <a:ext cx="8138160" cy="0"/>
          </a:xfrm>
          <a:prstGeom prst="straightConnector1">
            <a:avLst/>
          </a:prstGeom>
          <a:noFill/>
          <a:ln cap="flat" cmpd="sng" w="9525">
            <a:solidFill>
              <a:srgbClr val="D1D5DB"/>
            </a:solidFill>
            <a:prstDash val="solid"/>
            <a:round/>
            <a:headEnd len="sm" w="sm" type="none"/>
            <a:tailEnd len="sm" w="sm" type="none"/>
          </a:ln>
        </p:spPr>
      </p:cxnSp>
      <p:sp>
        <p:nvSpPr>
          <p:cNvPr id="280" name="Google Shape;280;p15"/>
          <p:cNvSpPr/>
          <p:nvPr/>
        </p:nvSpPr>
        <p:spPr>
          <a:xfrm>
            <a:off x="502920" y="2606040"/>
            <a:ext cx="8138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200"/>
              <a:buFont typeface="Trebuchet MS"/>
              <a:buNone/>
            </a:pPr>
            <a:r>
              <a:rPr b="1" i="0" lang="en-US" sz="1200" u="none" cap="none" strike="noStrike">
                <a:solidFill>
                  <a:srgbClr val="1D6FA4"/>
                </a:solidFill>
                <a:latin typeface="Trebuchet MS"/>
                <a:ea typeface="Trebuchet MS"/>
                <a:cs typeface="Trebuchet MS"/>
                <a:sym typeface="Trebuchet MS"/>
              </a:rPr>
              <a:t>For policymakers and advocates</a:t>
            </a:r>
            <a:endParaRPr b="0" i="0" sz="1200" u="none" cap="none" strike="noStrike">
              <a:solidFill>
                <a:schemeClr val="dk1"/>
              </a:solidFill>
              <a:latin typeface="Calibri"/>
              <a:ea typeface="Calibri"/>
              <a:cs typeface="Calibri"/>
              <a:sym typeface="Calibri"/>
            </a:endParaRPr>
          </a:p>
        </p:txBody>
      </p:sp>
      <p:sp>
        <p:nvSpPr>
          <p:cNvPr id="281" name="Google Shape;281;p15"/>
          <p:cNvSpPr/>
          <p:nvPr/>
        </p:nvSpPr>
        <p:spPr>
          <a:xfrm>
            <a:off x="502920" y="2916936"/>
            <a:ext cx="81381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Mandatory frameworks produce better documents. Jurisdictions without disclosure requirements do not simply produce worse documents — they produce nothing, or worse, AI-generated misinformation. The policy implication is clear: voluntary disclosure does not work.</a:t>
            </a:r>
            <a:endParaRPr b="0" i="0" sz="1250" u="none" cap="none" strike="noStrike">
              <a:solidFill>
                <a:schemeClr val="dk1"/>
              </a:solidFill>
              <a:latin typeface="Calibri"/>
              <a:ea typeface="Calibri"/>
              <a:cs typeface="Calibri"/>
              <a:sym typeface="Calibri"/>
            </a:endParaRPr>
          </a:p>
        </p:txBody>
      </p:sp>
      <p:cxnSp>
        <p:nvCxnSpPr>
          <p:cNvPr id="282" name="Google Shape;282;p15"/>
          <p:cNvCxnSpPr/>
          <p:nvPr/>
        </p:nvCxnSpPr>
        <p:spPr>
          <a:xfrm>
            <a:off x="502920" y="3648456"/>
            <a:ext cx="8138160" cy="0"/>
          </a:xfrm>
          <a:prstGeom prst="straightConnector1">
            <a:avLst/>
          </a:prstGeom>
          <a:noFill/>
          <a:ln cap="flat" cmpd="sng" w="9525">
            <a:solidFill>
              <a:srgbClr val="D1D5DB"/>
            </a:solidFill>
            <a:prstDash val="solid"/>
            <a:round/>
            <a:headEnd len="sm" w="sm" type="none"/>
            <a:tailEnd len="sm" w="sm" type="none"/>
          </a:ln>
        </p:spPr>
      </p:cxnSp>
      <p:sp>
        <p:nvSpPr>
          <p:cNvPr id="283" name="Google Shape;283;p15"/>
          <p:cNvSpPr/>
          <p:nvPr/>
        </p:nvSpPr>
        <p:spPr>
          <a:xfrm>
            <a:off x="502920" y="3749040"/>
            <a:ext cx="8138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200"/>
              <a:buFont typeface="Trebuchet MS"/>
              <a:buNone/>
            </a:pPr>
            <a:r>
              <a:rPr b="1" i="0" lang="en-US" sz="1200" u="none" cap="none" strike="noStrike">
                <a:solidFill>
                  <a:srgbClr val="1D6FA4"/>
                </a:solidFill>
                <a:latin typeface="Trebuchet MS"/>
                <a:ea typeface="Trebuchet MS"/>
                <a:cs typeface="Trebuchet MS"/>
                <a:sym typeface="Trebuchet MS"/>
              </a:rPr>
              <a:t>For researchers</a:t>
            </a:r>
            <a:endParaRPr b="0" i="0" sz="1200" u="none" cap="none" strike="noStrike">
              <a:solidFill>
                <a:schemeClr val="dk1"/>
              </a:solidFill>
              <a:latin typeface="Calibri"/>
              <a:ea typeface="Calibri"/>
              <a:cs typeface="Calibri"/>
              <a:sym typeface="Calibri"/>
            </a:endParaRPr>
          </a:p>
        </p:txBody>
      </p:sp>
      <p:sp>
        <p:nvSpPr>
          <p:cNvPr id="284" name="Google Shape;284;p15"/>
          <p:cNvSpPr/>
          <p:nvPr/>
        </p:nvSpPr>
        <p:spPr>
          <a:xfrm>
            <a:off x="502920" y="4059936"/>
            <a:ext cx="81381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3E"/>
              </a:buClr>
              <a:buSzPts val="1250"/>
              <a:buFont typeface="Calibri"/>
              <a:buNone/>
            </a:pPr>
            <a:r>
              <a:rPr b="0" i="0" lang="en-US" sz="1250" u="none" cap="none" strike="noStrike">
                <a:solidFill>
                  <a:srgbClr val="2C2C3E"/>
                </a:solidFill>
                <a:latin typeface="Calibri"/>
                <a:ea typeface="Calibri"/>
                <a:cs typeface="Calibri"/>
                <a:sym typeface="Calibri"/>
              </a:rPr>
              <a:t>This study opens a replicable methodological line. The same framework could be applied to additional jurisdictions, other technology types, or longitudinal changes in disclosure quality before and after ordinance adoption.</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2E"/>
        </a:solidFill>
      </p:bgPr>
    </p:bg>
    <p:spTree>
      <p:nvGrpSpPr>
        <p:cNvPr id="289" name="Shape 289"/>
        <p:cNvGrpSpPr/>
        <p:nvPr/>
      </p:nvGrpSpPr>
      <p:grpSpPr>
        <a:xfrm>
          <a:off x="0" y="0"/>
          <a:ext cx="0" cy="0"/>
          <a:chOff x="0" y="0"/>
          <a:chExt cx="0" cy="0"/>
        </a:xfrm>
      </p:grpSpPr>
      <p:sp>
        <p:nvSpPr>
          <p:cNvPr id="290" name="Google Shape;290;p16"/>
          <p:cNvSpPr/>
          <p:nvPr/>
        </p:nvSpPr>
        <p:spPr>
          <a:xfrm>
            <a:off x="548640" y="365760"/>
            <a:ext cx="8046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Trebuchet MS"/>
              <a:buNone/>
            </a:pPr>
            <a:r>
              <a:rPr b="1" i="0" lang="en-US" sz="2600" u="none" cap="none" strike="noStrike">
                <a:solidFill>
                  <a:srgbClr val="FFFFFF"/>
                </a:solidFill>
                <a:latin typeface="Trebuchet MS"/>
                <a:ea typeface="Trebuchet MS"/>
                <a:cs typeface="Trebuchet MS"/>
                <a:sym typeface="Trebuchet MS"/>
              </a:rPr>
              <a:t>Contribution &amp; Conclusion</a:t>
            </a:r>
            <a:endParaRPr b="0" i="0" sz="2600" u="none" cap="none" strike="noStrike">
              <a:solidFill>
                <a:schemeClr val="dk1"/>
              </a:solidFill>
              <a:latin typeface="Calibri"/>
              <a:ea typeface="Calibri"/>
              <a:cs typeface="Calibri"/>
              <a:sym typeface="Calibri"/>
            </a:endParaRPr>
          </a:p>
        </p:txBody>
      </p:sp>
      <p:cxnSp>
        <p:nvCxnSpPr>
          <p:cNvPr id="291" name="Google Shape;291;p16"/>
          <p:cNvCxnSpPr/>
          <p:nvPr/>
        </p:nvCxnSpPr>
        <p:spPr>
          <a:xfrm>
            <a:off x="548640" y="960120"/>
            <a:ext cx="8046720" cy="0"/>
          </a:xfrm>
          <a:prstGeom prst="straightConnector1">
            <a:avLst/>
          </a:prstGeom>
          <a:noFill/>
          <a:ln cap="flat" cmpd="sng" w="25400">
            <a:solidFill>
              <a:srgbClr val="1D6FA4"/>
            </a:solidFill>
            <a:prstDash val="solid"/>
            <a:round/>
            <a:headEnd len="sm" w="sm" type="none"/>
            <a:tailEnd len="sm" w="sm" type="none"/>
          </a:ln>
        </p:spPr>
      </p:cxnSp>
      <p:sp>
        <p:nvSpPr>
          <p:cNvPr id="292" name="Google Shape;292;p16"/>
          <p:cNvSpPr/>
          <p:nvPr/>
        </p:nvSpPr>
        <p:spPr>
          <a:xfrm>
            <a:off x="548640" y="1115568"/>
            <a:ext cx="8046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200"/>
              <a:buFont typeface="Trebuchet MS"/>
              <a:buNone/>
            </a:pPr>
            <a:r>
              <a:rPr b="1" i="0" lang="en-US" sz="1200" u="none" cap="none" strike="noStrike">
                <a:solidFill>
                  <a:srgbClr val="1D6FA4"/>
                </a:solidFill>
                <a:latin typeface="Trebuchet MS"/>
                <a:ea typeface="Trebuchet MS"/>
                <a:cs typeface="Trebuchet MS"/>
                <a:sym typeface="Trebuchet MS"/>
              </a:rPr>
              <a:t>Empirical finding</a:t>
            </a:r>
            <a:endParaRPr b="0" i="0" sz="1200" u="none" cap="none" strike="noStrike">
              <a:solidFill>
                <a:schemeClr val="dk1"/>
              </a:solidFill>
              <a:latin typeface="Calibri"/>
              <a:ea typeface="Calibri"/>
              <a:cs typeface="Calibri"/>
              <a:sym typeface="Calibri"/>
            </a:endParaRPr>
          </a:p>
        </p:txBody>
      </p:sp>
      <p:sp>
        <p:nvSpPr>
          <p:cNvPr id="293" name="Google Shape;293;p16"/>
          <p:cNvSpPr/>
          <p:nvPr/>
        </p:nvSpPr>
        <p:spPr>
          <a:xfrm>
            <a:off x="548640" y="1417320"/>
            <a:ext cx="80467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400"/>
              <a:buFont typeface="Calibri"/>
              <a:buNone/>
            </a:pPr>
            <a:r>
              <a:rPr b="0" i="0" lang="en-US" sz="1400" u="none" cap="none" strike="noStrike">
                <a:solidFill>
                  <a:srgbClr val="D1D5DB"/>
                </a:solidFill>
                <a:latin typeface="Calibri"/>
                <a:ea typeface="Calibri"/>
                <a:cs typeface="Calibri"/>
                <a:sym typeface="Calibri"/>
              </a:rPr>
              <a:t>Mandatory transparency frameworks drive measurably higher document quality across all three Redish phases. The absence of a framework reliably produces silence, misleading results, or reactive-only disclosure.</a:t>
            </a:r>
            <a:endParaRPr b="0" i="0" sz="1400" u="none" cap="none" strike="noStrike">
              <a:solidFill>
                <a:schemeClr val="dk1"/>
              </a:solidFill>
              <a:latin typeface="Calibri"/>
              <a:ea typeface="Calibri"/>
              <a:cs typeface="Calibri"/>
              <a:sym typeface="Calibri"/>
            </a:endParaRPr>
          </a:p>
        </p:txBody>
      </p:sp>
      <p:cxnSp>
        <p:nvCxnSpPr>
          <p:cNvPr id="294" name="Google Shape;294;p16"/>
          <p:cNvCxnSpPr/>
          <p:nvPr/>
        </p:nvCxnSpPr>
        <p:spPr>
          <a:xfrm>
            <a:off x="548640" y="2331720"/>
            <a:ext cx="8046720" cy="0"/>
          </a:xfrm>
          <a:prstGeom prst="straightConnector1">
            <a:avLst/>
          </a:prstGeom>
          <a:noFill/>
          <a:ln cap="flat" cmpd="sng" w="9525">
            <a:solidFill>
              <a:srgbClr val="3A3A5A"/>
            </a:solidFill>
            <a:prstDash val="solid"/>
            <a:round/>
            <a:headEnd len="sm" w="sm" type="none"/>
            <a:tailEnd len="sm" w="sm" type="none"/>
          </a:ln>
        </p:spPr>
      </p:cxnSp>
      <p:sp>
        <p:nvSpPr>
          <p:cNvPr id="295" name="Google Shape;295;p16"/>
          <p:cNvSpPr/>
          <p:nvPr/>
        </p:nvSpPr>
        <p:spPr>
          <a:xfrm>
            <a:off x="548640" y="2487168"/>
            <a:ext cx="8046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6FA4"/>
              </a:buClr>
              <a:buSzPts val="1200"/>
              <a:buFont typeface="Trebuchet MS"/>
              <a:buNone/>
            </a:pPr>
            <a:r>
              <a:rPr b="1" i="0" lang="en-US" sz="1200" u="none" cap="none" strike="noStrike">
                <a:solidFill>
                  <a:srgbClr val="1D6FA4"/>
                </a:solidFill>
                <a:latin typeface="Trebuchet MS"/>
                <a:ea typeface="Trebuchet MS"/>
                <a:cs typeface="Trebuchet MS"/>
                <a:sym typeface="Trebuchet MS"/>
              </a:rPr>
              <a:t>Methodological contribution</a:t>
            </a:r>
            <a:endParaRPr b="0" i="0" sz="1200" u="none" cap="none" strike="noStrike">
              <a:solidFill>
                <a:schemeClr val="dk1"/>
              </a:solidFill>
              <a:latin typeface="Calibri"/>
              <a:ea typeface="Calibri"/>
              <a:cs typeface="Calibri"/>
              <a:sym typeface="Calibri"/>
            </a:endParaRPr>
          </a:p>
        </p:txBody>
      </p:sp>
      <p:sp>
        <p:nvSpPr>
          <p:cNvPr id="296" name="Google Shape;296;p16"/>
          <p:cNvSpPr/>
          <p:nvPr/>
        </p:nvSpPr>
        <p:spPr>
          <a:xfrm>
            <a:off x="548640" y="2788920"/>
            <a:ext cx="80467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400"/>
              <a:buFont typeface="Calibri"/>
              <a:buNone/>
            </a:pPr>
            <a:r>
              <a:rPr b="0" i="0" lang="en-US" sz="1400" u="none" cap="none" strike="noStrike">
                <a:solidFill>
                  <a:srgbClr val="D1D5DB"/>
                </a:solidFill>
                <a:latin typeface="Calibri"/>
                <a:ea typeface="Calibri"/>
                <a:cs typeface="Calibri"/>
                <a:sym typeface="Calibri"/>
              </a:rPr>
              <a:t>This study demonstrates that public-sector AI communication can be evaluated systematically using established technical communication frameworks. The value of this work is not its findings about these three jurisdictions — it is the demonstration that such evaluation is possible, replicable, and useful.</a:t>
            </a:r>
            <a:endParaRPr b="0" i="0" sz="1400" u="none" cap="none" strike="noStrike">
              <a:solidFill>
                <a:schemeClr val="dk1"/>
              </a:solidFill>
              <a:latin typeface="Calibri"/>
              <a:ea typeface="Calibri"/>
              <a:cs typeface="Calibri"/>
              <a:sym typeface="Calibri"/>
            </a:endParaRPr>
          </a:p>
        </p:txBody>
      </p:sp>
      <p:cxnSp>
        <p:nvCxnSpPr>
          <p:cNvPr id="297" name="Google Shape;297;p16"/>
          <p:cNvCxnSpPr/>
          <p:nvPr/>
        </p:nvCxnSpPr>
        <p:spPr>
          <a:xfrm>
            <a:off x="548640" y="4041648"/>
            <a:ext cx="8046720" cy="0"/>
          </a:xfrm>
          <a:prstGeom prst="straightConnector1">
            <a:avLst/>
          </a:prstGeom>
          <a:noFill/>
          <a:ln cap="flat" cmpd="sng" w="9525">
            <a:solidFill>
              <a:srgbClr val="3A3A5A"/>
            </a:solidFill>
            <a:prstDash val="solid"/>
            <a:round/>
            <a:headEnd len="sm" w="sm" type="none"/>
            <a:tailEnd len="sm" w="sm" type="none"/>
          </a:ln>
        </p:spPr>
      </p:cxnSp>
      <p:sp>
        <p:nvSpPr>
          <p:cNvPr id="298" name="Google Shape;298;p16"/>
          <p:cNvSpPr/>
          <p:nvPr/>
        </p:nvSpPr>
        <p:spPr>
          <a:xfrm>
            <a:off x="548640" y="4187952"/>
            <a:ext cx="80467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9"/>
              </a:buClr>
              <a:buSzPts val="1100"/>
              <a:buFont typeface="Calibri"/>
              <a:buNone/>
            </a:pPr>
            <a:r>
              <a:rPr b="0" i="0" lang="en-US" sz="1100" u="none" cap="none" strike="noStrike">
                <a:solidFill>
                  <a:srgbClr val="6B7A99"/>
                </a:solidFill>
                <a:latin typeface="Calibri"/>
                <a:ea typeface="Calibri"/>
                <a:cs typeface="Calibri"/>
                <a:sym typeface="Calibri"/>
              </a:rPr>
              <a:t>Thomas Henderson  ·  ENG 675  ·  NC State University  ·  Spring 2026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2026-04-05T22:25:37Z</dcterms:created>
  <dc:creator>Thomas Henderson</dc:creator>
</cp:coreProperties>
</file>